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CCFFCC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06" autoAdjust="0"/>
  </p:normalViewPr>
  <p:slideViewPr>
    <p:cSldViewPr>
      <p:cViewPr>
        <p:scale>
          <a:sx n="100" d="100"/>
          <a:sy n="100" d="100"/>
        </p:scale>
        <p:origin x="-90" y="3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46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36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23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56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4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39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1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2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8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1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A84D-F01C-422E-A195-CEC7543617FF}" type="datetimeFigureOut">
              <a:rPr lang="en-US" smtClean="0"/>
              <a:t>1/8/2017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0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Straight Arrow Connector 147"/>
          <p:cNvCxnSpPr/>
          <p:nvPr/>
        </p:nvCxnSpPr>
        <p:spPr>
          <a:xfrm flipH="1">
            <a:off x="7737895" y="4778308"/>
            <a:ext cx="1" cy="67502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/>
          <p:nvPr/>
        </p:nvCxnSpPr>
        <p:spPr>
          <a:xfrm flipH="1">
            <a:off x="4724399" y="4750278"/>
            <a:ext cx="1" cy="67502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/>
          <p:nvPr/>
        </p:nvCxnSpPr>
        <p:spPr>
          <a:xfrm flipH="1">
            <a:off x="1600200" y="4761056"/>
            <a:ext cx="1" cy="67502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endCxn id="117" idx="0"/>
          </p:cNvCxnSpPr>
          <p:nvPr/>
        </p:nvCxnSpPr>
        <p:spPr>
          <a:xfrm>
            <a:off x="4689896" y="533400"/>
            <a:ext cx="12678" cy="4071123"/>
          </a:xfrm>
          <a:prstGeom prst="straightConnector1">
            <a:avLst/>
          </a:prstGeom>
          <a:ln w="635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>
            <a:off x="4766096" y="524068"/>
            <a:ext cx="3196804" cy="1708309"/>
          </a:xfrm>
          <a:prstGeom prst="straightConnector1">
            <a:avLst/>
          </a:prstGeom>
          <a:ln w="635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4724400" y="524068"/>
            <a:ext cx="1752600" cy="1688902"/>
          </a:xfrm>
          <a:prstGeom prst="straightConnector1">
            <a:avLst/>
          </a:prstGeom>
          <a:ln w="635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4724400" y="532694"/>
            <a:ext cx="609600" cy="1699683"/>
          </a:xfrm>
          <a:prstGeom prst="straightConnector1">
            <a:avLst/>
          </a:prstGeom>
          <a:ln w="635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3848100" y="524068"/>
            <a:ext cx="814744" cy="1694358"/>
          </a:xfrm>
          <a:prstGeom prst="straightConnector1">
            <a:avLst/>
          </a:prstGeom>
          <a:ln w="635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973348" y="4593576"/>
            <a:ext cx="1295400" cy="609600"/>
            <a:chOff x="1049731" y="3733800"/>
            <a:chExt cx="1295400" cy="609600"/>
          </a:xfrm>
        </p:grpSpPr>
        <p:sp>
          <p:nvSpPr>
            <p:cNvPr id="50" name="Oval 49"/>
            <p:cNvSpPr/>
            <p:nvPr/>
          </p:nvSpPr>
          <p:spPr>
            <a:xfrm>
              <a:off x="1371600" y="3733800"/>
              <a:ext cx="571500" cy="609600"/>
            </a:xfrm>
            <a:prstGeom prst="ellipse">
              <a:avLst/>
            </a:prstGeom>
            <a:solidFill>
              <a:srgbClr val="CCFFCC"/>
            </a:solidFill>
            <a:ln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49731" y="3911108"/>
              <a:ext cx="12954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Rac1</a:t>
              </a:r>
              <a:endParaRPr lang="en-US" sz="1050" b="1" dirty="0" smtClean="0"/>
            </a:p>
            <a:p>
              <a:pPr algn="ctr"/>
              <a:endParaRPr lang="en-US" sz="1050" b="1" dirty="0" smtClean="0"/>
            </a:p>
          </p:txBody>
        </p:sp>
      </p:grpSp>
      <p:cxnSp>
        <p:nvCxnSpPr>
          <p:cNvPr id="56" name="Straight Arrow Connector 55"/>
          <p:cNvCxnSpPr/>
          <p:nvPr/>
        </p:nvCxnSpPr>
        <p:spPr>
          <a:xfrm flipH="1">
            <a:off x="2892732" y="482181"/>
            <a:ext cx="1934006" cy="1739415"/>
          </a:xfrm>
          <a:prstGeom prst="straightConnector1">
            <a:avLst/>
          </a:prstGeom>
          <a:ln w="635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961740" y="1752600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400" b="1" dirty="0"/>
          </a:p>
        </p:txBody>
      </p:sp>
      <p:cxnSp>
        <p:nvCxnSpPr>
          <p:cNvPr id="82" name="Straight Arrow Connector 81"/>
          <p:cNvCxnSpPr>
            <a:stCxn id="77" idx="2"/>
          </p:cNvCxnSpPr>
          <p:nvPr/>
        </p:nvCxnSpPr>
        <p:spPr>
          <a:xfrm flipH="1">
            <a:off x="7893892" y="3949163"/>
            <a:ext cx="507522" cy="70953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Group 137"/>
          <p:cNvGrpSpPr/>
          <p:nvPr/>
        </p:nvGrpSpPr>
        <p:grpSpPr>
          <a:xfrm>
            <a:off x="4071670" y="5434644"/>
            <a:ext cx="1295400" cy="715581"/>
            <a:chOff x="4097548" y="5408766"/>
            <a:chExt cx="1295400" cy="715581"/>
          </a:xfrm>
        </p:grpSpPr>
        <p:sp>
          <p:nvSpPr>
            <p:cNvPr id="84" name="Rectangle 83"/>
            <p:cNvSpPr/>
            <p:nvPr/>
          </p:nvSpPr>
          <p:spPr>
            <a:xfrm>
              <a:off x="4165122" y="5410200"/>
              <a:ext cx="1121428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097548" y="5408766"/>
              <a:ext cx="1295400" cy="715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smtClean="0"/>
                <a:t>Actin </a:t>
              </a:r>
              <a:r>
                <a:rPr lang="en-US" sz="1000" b="1" dirty="0" err="1" smtClean="0"/>
                <a:t>Depolymerization</a:t>
              </a:r>
              <a:r>
                <a:rPr lang="en-US" sz="1000" b="1" dirty="0" smtClean="0"/>
                <a:t> </a:t>
              </a:r>
            </a:p>
            <a:p>
              <a:pPr algn="ctr"/>
              <a:r>
                <a:rPr lang="en-US" sz="1000" b="1" dirty="0"/>
                <a:t>(</a:t>
              </a:r>
              <a:r>
                <a:rPr lang="en-US" sz="1000" b="1" dirty="0" smtClean="0"/>
                <a:t>Stress Fibers)</a:t>
              </a:r>
              <a:endParaRPr lang="en-US" sz="1000" b="1" dirty="0" smtClean="0"/>
            </a:p>
            <a:p>
              <a:pPr algn="ctr"/>
              <a:endParaRPr lang="en-US" sz="1050" b="1" dirty="0" smtClean="0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7048623" y="152400"/>
            <a:ext cx="2019177" cy="73866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        P, phosphorylation</a:t>
            </a:r>
          </a:p>
          <a:p>
            <a:r>
              <a:rPr lang="en-US" sz="1400" b="1" dirty="0"/>
              <a:t> </a:t>
            </a:r>
            <a:r>
              <a:rPr lang="en-US" sz="1400" b="1" dirty="0" smtClean="0"/>
              <a:t>        A, activation</a:t>
            </a:r>
          </a:p>
          <a:p>
            <a:r>
              <a:rPr lang="en-US" sz="1400" b="1" dirty="0"/>
              <a:t> </a:t>
            </a:r>
            <a:r>
              <a:rPr lang="en-US" sz="1400" b="1" dirty="0" smtClean="0"/>
              <a:t>        -A, inactivation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21164" y="2223954"/>
            <a:ext cx="1295400" cy="17081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 smtClean="0">
                <a:solidFill>
                  <a:srgbClr val="C00000"/>
                </a:solidFill>
              </a:rPr>
              <a:t>RhoA</a:t>
            </a:r>
            <a:r>
              <a:rPr lang="en-US" sz="1050" b="1" dirty="0" smtClean="0">
                <a:solidFill>
                  <a:srgbClr val="C00000"/>
                </a:solidFill>
              </a:rPr>
              <a:t> GEFs:</a:t>
            </a:r>
          </a:p>
          <a:p>
            <a:pPr algn="ctr"/>
            <a:endParaRPr lang="en-US" sz="1050" dirty="0"/>
          </a:p>
          <a:p>
            <a:pPr algn="ctr"/>
            <a:r>
              <a:rPr lang="en-US" sz="1050" b="1" dirty="0" smtClean="0"/>
              <a:t>Arhgef2 (S885)</a:t>
            </a:r>
          </a:p>
          <a:p>
            <a:pPr algn="ctr"/>
            <a:r>
              <a:rPr lang="en-US" sz="1050" b="1" dirty="0" smtClean="0"/>
              <a:t>Arhgef17 (S142)</a:t>
            </a:r>
          </a:p>
          <a:p>
            <a:pPr algn="ctr"/>
            <a:r>
              <a:rPr lang="en-US" sz="1050" b="1" dirty="0" smtClean="0"/>
              <a:t>Dock1 (S1756)</a:t>
            </a:r>
          </a:p>
          <a:p>
            <a:endParaRPr lang="en-US" sz="1050" b="1" dirty="0"/>
          </a:p>
          <a:p>
            <a:endParaRPr lang="en-US" sz="1050" b="1" dirty="0" smtClean="0"/>
          </a:p>
          <a:p>
            <a:endParaRPr lang="en-US" sz="1050" b="1" dirty="0"/>
          </a:p>
          <a:p>
            <a:endParaRPr lang="en-US" sz="1050" b="1" dirty="0" smtClean="0"/>
          </a:p>
          <a:p>
            <a:endParaRPr lang="en-US" sz="1050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4766096" y="2223954"/>
            <a:ext cx="1295400" cy="17081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err="1">
                <a:solidFill>
                  <a:srgbClr val="C00000"/>
                </a:solidFill>
              </a:rPr>
              <a:t>RhoA</a:t>
            </a:r>
            <a:r>
              <a:rPr lang="en-US" sz="1050" b="1" dirty="0">
                <a:solidFill>
                  <a:srgbClr val="C00000"/>
                </a:solidFill>
              </a:rPr>
              <a:t> </a:t>
            </a:r>
            <a:r>
              <a:rPr lang="en-US" sz="1050" b="1" dirty="0" smtClean="0">
                <a:solidFill>
                  <a:srgbClr val="C00000"/>
                </a:solidFill>
              </a:rPr>
              <a:t>GAPs:</a:t>
            </a:r>
          </a:p>
          <a:p>
            <a:pPr algn="ctr"/>
            <a:endParaRPr lang="en-US" sz="1050" dirty="0"/>
          </a:p>
          <a:p>
            <a:pPr algn="ctr"/>
            <a:r>
              <a:rPr lang="en-US" sz="1050" b="1" dirty="0" smtClean="0"/>
              <a:t>Arhgap21 (S1655)</a:t>
            </a:r>
          </a:p>
          <a:p>
            <a:pPr algn="ctr"/>
            <a:r>
              <a:rPr lang="en-US" sz="1050" b="1" dirty="0" smtClean="0"/>
              <a:t>Arhgap29 </a:t>
            </a:r>
            <a:r>
              <a:rPr lang="en-US" sz="1050" b="1" dirty="0"/>
              <a:t>(</a:t>
            </a:r>
            <a:r>
              <a:rPr lang="en-US" sz="1050" b="1" dirty="0" smtClean="0"/>
              <a:t>S1149)</a:t>
            </a:r>
          </a:p>
          <a:p>
            <a:pPr algn="ctr"/>
            <a:r>
              <a:rPr lang="en-US" sz="1050" b="1" dirty="0" smtClean="0"/>
              <a:t>Arhgap35 (S1150)</a:t>
            </a:r>
          </a:p>
          <a:p>
            <a:endParaRPr lang="en-US" sz="1050" b="1" dirty="0"/>
          </a:p>
          <a:p>
            <a:endParaRPr lang="en-US" sz="1050" b="1" dirty="0" smtClean="0"/>
          </a:p>
          <a:p>
            <a:endParaRPr lang="en-US" sz="1050" b="1" dirty="0"/>
          </a:p>
          <a:p>
            <a:endParaRPr lang="en-US" sz="1050" b="1" dirty="0" smtClean="0"/>
          </a:p>
          <a:p>
            <a:endParaRPr lang="en-US" sz="1050" b="1" dirty="0" smtClean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1351848" y="482181"/>
            <a:ext cx="3474890" cy="1741773"/>
          </a:xfrm>
          <a:prstGeom prst="straightConnector1">
            <a:avLst/>
          </a:prstGeom>
          <a:ln w="635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476546" y="1808571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400" b="1" dirty="0"/>
          </a:p>
        </p:txBody>
      </p:sp>
      <p:grpSp>
        <p:nvGrpSpPr>
          <p:cNvPr id="53" name="Group 52"/>
          <p:cNvGrpSpPr/>
          <p:nvPr/>
        </p:nvGrpSpPr>
        <p:grpSpPr>
          <a:xfrm>
            <a:off x="4223156" y="113594"/>
            <a:ext cx="879376" cy="838200"/>
            <a:chOff x="4103490" y="2514600"/>
            <a:chExt cx="879376" cy="838200"/>
          </a:xfrm>
        </p:grpSpPr>
        <p:sp>
          <p:nvSpPr>
            <p:cNvPr id="54" name="Oval 53"/>
            <p:cNvSpPr/>
            <p:nvPr/>
          </p:nvSpPr>
          <p:spPr>
            <a:xfrm>
              <a:off x="4114800" y="2514600"/>
              <a:ext cx="838200" cy="8382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103490" y="2590800"/>
              <a:ext cx="879376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>
                  <a:solidFill>
                    <a:schemeClr val="tx2">
                      <a:lumMod val="50000"/>
                    </a:schemeClr>
                  </a:solidFill>
                </a:rPr>
                <a:t>PKA</a:t>
              </a:r>
            </a:p>
            <a:p>
              <a:pPr algn="ctr"/>
              <a:r>
                <a:rPr lang="en-US" sz="1200" b="1" dirty="0" smtClean="0">
                  <a:solidFill>
                    <a:schemeClr val="tx2">
                      <a:lumMod val="50000"/>
                    </a:schemeClr>
                  </a:solidFill>
                </a:rPr>
                <a:t>Activation</a:t>
              </a:r>
              <a:endParaRPr lang="en-US" sz="120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290416" y="2227052"/>
            <a:ext cx="1295400" cy="17081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>
                <a:solidFill>
                  <a:srgbClr val="C00000"/>
                </a:solidFill>
              </a:rPr>
              <a:t>Rac1 GEFs:</a:t>
            </a:r>
            <a:endParaRPr lang="en-US" sz="1050" b="1" dirty="0">
              <a:solidFill>
                <a:srgbClr val="C00000"/>
              </a:solidFill>
            </a:endParaRPr>
          </a:p>
          <a:p>
            <a:pPr algn="ctr"/>
            <a:endParaRPr lang="en-US" sz="1050" b="1" dirty="0" smtClean="0"/>
          </a:p>
          <a:p>
            <a:pPr algn="ctr"/>
            <a:r>
              <a:rPr lang="en-US" sz="1050" b="1" dirty="0" smtClean="0"/>
              <a:t>Arhgef2 </a:t>
            </a:r>
            <a:r>
              <a:rPr lang="en-US" sz="1050" b="1" dirty="0"/>
              <a:t>(S885</a:t>
            </a:r>
            <a:r>
              <a:rPr lang="en-US" sz="1050" b="1" dirty="0" smtClean="0"/>
              <a:t>)</a:t>
            </a:r>
          </a:p>
          <a:p>
            <a:pPr algn="ctr"/>
            <a:r>
              <a:rPr lang="en-US" sz="1050" b="1" dirty="0" smtClean="0"/>
              <a:t>Arhgef7 (S776)</a:t>
            </a:r>
            <a:endParaRPr lang="en-US" sz="1050" b="1" dirty="0"/>
          </a:p>
          <a:p>
            <a:pPr algn="ctr"/>
            <a:r>
              <a:rPr lang="en-US" sz="1050" b="1" dirty="0"/>
              <a:t>Dock1 (S1756)</a:t>
            </a:r>
          </a:p>
          <a:p>
            <a:pPr algn="ctr"/>
            <a:r>
              <a:rPr lang="en-US" sz="1050" b="1" dirty="0" smtClean="0"/>
              <a:t>Dock7 </a:t>
            </a:r>
            <a:r>
              <a:rPr lang="en-US" sz="1050" b="1" dirty="0"/>
              <a:t>(</a:t>
            </a:r>
            <a:r>
              <a:rPr lang="en-US" sz="1050" b="1" dirty="0" smtClean="0"/>
              <a:t>S898)</a:t>
            </a:r>
          </a:p>
          <a:p>
            <a:pPr algn="ctr"/>
            <a:r>
              <a:rPr lang="en-US" sz="1050" b="1" dirty="0" smtClean="0"/>
              <a:t>Plekhg3 (S737) Plekhg3 (S1134)</a:t>
            </a:r>
          </a:p>
          <a:p>
            <a:pPr algn="ctr"/>
            <a:r>
              <a:rPr lang="en-US" sz="1050" b="1" dirty="0" smtClean="0"/>
              <a:t>Tiam1 (S695)</a:t>
            </a:r>
          </a:p>
          <a:p>
            <a:pPr algn="ctr"/>
            <a:r>
              <a:rPr lang="en-US" sz="1050" b="1" dirty="0" smtClean="0"/>
              <a:t>Tiam2 (1536)</a:t>
            </a:r>
            <a:endParaRPr lang="en-US" sz="1050" b="1" dirty="0"/>
          </a:p>
        </p:txBody>
      </p:sp>
      <p:sp>
        <p:nvSpPr>
          <p:cNvPr id="75" name="TextBox 74"/>
          <p:cNvSpPr txBox="1"/>
          <p:nvPr/>
        </p:nvSpPr>
        <p:spPr>
          <a:xfrm>
            <a:off x="1719530" y="2232377"/>
            <a:ext cx="1295400" cy="16850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rgbClr val="C00000"/>
                </a:solidFill>
              </a:rPr>
              <a:t>Rac1 </a:t>
            </a:r>
            <a:r>
              <a:rPr lang="en-US" sz="1050" b="1" dirty="0" smtClean="0">
                <a:solidFill>
                  <a:srgbClr val="C00000"/>
                </a:solidFill>
              </a:rPr>
              <a:t>GAPs:</a:t>
            </a:r>
            <a:endParaRPr lang="en-US" sz="1050" b="1" dirty="0">
              <a:solidFill>
                <a:srgbClr val="C00000"/>
              </a:solidFill>
            </a:endParaRPr>
          </a:p>
          <a:p>
            <a:pPr algn="ctr"/>
            <a:endParaRPr lang="en-US" sz="1050" b="1" dirty="0"/>
          </a:p>
          <a:p>
            <a:pPr algn="ctr"/>
            <a:r>
              <a:rPr lang="en-US" sz="1050" b="1" dirty="0" smtClean="0"/>
              <a:t>Arhgap27 (S459)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76" name="TextBox 75"/>
          <p:cNvSpPr txBox="1"/>
          <p:nvPr/>
        </p:nvSpPr>
        <p:spPr>
          <a:xfrm>
            <a:off x="6350478" y="2235678"/>
            <a:ext cx="1295400" cy="17081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>
                <a:solidFill>
                  <a:srgbClr val="C00000"/>
                </a:solidFill>
              </a:rPr>
              <a:t>CDC42 GEFs:</a:t>
            </a:r>
            <a:endParaRPr lang="en-US" sz="1050" b="1" dirty="0">
              <a:solidFill>
                <a:srgbClr val="C00000"/>
              </a:solidFill>
            </a:endParaRPr>
          </a:p>
          <a:p>
            <a:pPr algn="ctr"/>
            <a:endParaRPr lang="en-US" sz="1050" b="1" dirty="0" smtClean="0"/>
          </a:p>
          <a:p>
            <a:pPr algn="ctr"/>
            <a:r>
              <a:rPr lang="en-US" sz="1050" b="1" dirty="0"/>
              <a:t>Fgd3 (S442)</a:t>
            </a:r>
          </a:p>
          <a:p>
            <a:pPr algn="ctr"/>
            <a:r>
              <a:rPr lang="en-US" sz="1050" b="1" dirty="0"/>
              <a:t>Itsn2 (S491)</a:t>
            </a:r>
          </a:p>
          <a:p>
            <a:pPr algn="ctr"/>
            <a:r>
              <a:rPr lang="en-US" sz="1050" b="1" dirty="0"/>
              <a:t>Plekhg3 (</a:t>
            </a:r>
            <a:r>
              <a:rPr lang="en-US" sz="1050" b="1" dirty="0" smtClean="0"/>
              <a:t>S737) Plekhg3 (S1134</a:t>
            </a:r>
            <a:r>
              <a:rPr lang="en-US" sz="1050" b="1" dirty="0"/>
              <a:t>)</a:t>
            </a:r>
          </a:p>
          <a:p>
            <a:pPr algn="ctr"/>
            <a:r>
              <a:rPr lang="en-US" sz="1050" b="1" dirty="0"/>
              <a:t>Tiam1 (S695</a:t>
            </a:r>
            <a:r>
              <a:rPr lang="en-US" sz="1050" b="1" dirty="0" smtClean="0"/>
              <a:t>)</a:t>
            </a:r>
          </a:p>
          <a:p>
            <a:endParaRPr lang="en-US" sz="1050" b="1" dirty="0"/>
          </a:p>
          <a:p>
            <a:endParaRPr lang="en-US" sz="1050" b="1" dirty="0" smtClean="0"/>
          </a:p>
          <a:p>
            <a:endParaRPr lang="en-US" sz="105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7753714" y="2241003"/>
            <a:ext cx="1295400" cy="17081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>
                <a:solidFill>
                  <a:srgbClr val="C00000"/>
                </a:solidFill>
              </a:rPr>
              <a:t>CDC42 GAPs:</a:t>
            </a:r>
            <a:endParaRPr lang="en-US" sz="1050" b="1" dirty="0">
              <a:solidFill>
                <a:srgbClr val="C00000"/>
              </a:solidFill>
            </a:endParaRPr>
          </a:p>
          <a:p>
            <a:pPr algn="ctr"/>
            <a:endParaRPr lang="en-US" sz="1050" b="1" dirty="0"/>
          </a:p>
          <a:p>
            <a:pPr algn="ctr"/>
            <a:r>
              <a:rPr lang="en-US" sz="1050" b="1" dirty="0" smtClean="0"/>
              <a:t>Arhgap27 (S459)</a:t>
            </a:r>
          </a:p>
          <a:p>
            <a:endParaRPr lang="en-US" sz="1050" b="1" dirty="0"/>
          </a:p>
          <a:p>
            <a:endParaRPr lang="en-US" sz="1050" b="1" dirty="0" smtClean="0"/>
          </a:p>
          <a:p>
            <a:endParaRPr lang="en-US" sz="1050" b="1" dirty="0" smtClean="0"/>
          </a:p>
          <a:p>
            <a:endParaRPr lang="en-US" sz="1050" b="1" dirty="0"/>
          </a:p>
          <a:p>
            <a:endParaRPr lang="en-US" sz="1050" b="1" dirty="0" smtClean="0"/>
          </a:p>
          <a:p>
            <a:endParaRPr lang="en-US" sz="1050" b="1" dirty="0"/>
          </a:p>
          <a:p>
            <a:endParaRPr lang="en-US" sz="1050" dirty="0" smtClean="0"/>
          </a:p>
        </p:txBody>
      </p:sp>
      <p:sp>
        <p:nvSpPr>
          <p:cNvPr id="80" name="TextBox 79"/>
          <p:cNvSpPr txBox="1"/>
          <p:nvPr/>
        </p:nvSpPr>
        <p:spPr>
          <a:xfrm>
            <a:off x="3748184" y="1697674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400" b="1" dirty="0"/>
          </a:p>
        </p:txBody>
      </p:sp>
      <p:sp>
        <p:nvSpPr>
          <p:cNvPr id="87" name="TextBox 86"/>
          <p:cNvSpPr txBox="1"/>
          <p:nvPr/>
        </p:nvSpPr>
        <p:spPr>
          <a:xfrm>
            <a:off x="5300945" y="1726722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400" b="1" dirty="0"/>
          </a:p>
        </p:txBody>
      </p:sp>
      <p:sp>
        <p:nvSpPr>
          <p:cNvPr id="93" name="TextBox 92"/>
          <p:cNvSpPr txBox="1"/>
          <p:nvPr/>
        </p:nvSpPr>
        <p:spPr>
          <a:xfrm>
            <a:off x="6177929" y="1706602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400" b="1" dirty="0"/>
          </a:p>
        </p:txBody>
      </p:sp>
      <p:sp>
        <p:nvSpPr>
          <p:cNvPr id="97" name="TextBox 96"/>
          <p:cNvSpPr txBox="1"/>
          <p:nvPr/>
        </p:nvSpPr>
        <p:spPr>
          <a:xfrm>
            <a:off x="7563847" y="1746864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400" b="1" dirty="0"/>
          </a:p>
        </p:txBody>
      </p:sp>
      <p:grpSp>
        <p:nvGrpSpPr>
          <p:cNvPr id="104" name="Group 103"/>
          <p:cNvGrpSpPr/>
          <p:nvPr/>
        </p:nvGrpSpPr>
        <p:grpSpPr>
          <a:xfrm>
            <a:off x="7086600" y="4612948"/>
            <a:ext cx="1295400" cy="568652"/>
            <a:chOff x="6437026" y="1600202"/>
            <a:chExt cx="1295400" cy="568652"/>
          </a:xfrm>
        </p:grpSpPr>
        <p:sp>
          <p:nvSpPr>
            <p:cNvPr id="105" name="Oval 104"/>
            <p:cNvSpPr/>
            <p:nvPr/>
          </p:nvSpPr>
          <p:spPr>
            <a:xfrm>
              <a:off x="6767090" y="1600202"/>
              <a:ext cx="571500" cy="568652"/>
            </a:xfrm>
            <a:prstGeom prst="ellipse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437026" y="1752602"/>
              <a:ext cx="12954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Cdc42</a:t>
              </a:r>
            </a:p>
            <a:p>
              <a:pPr algn="ctr"/>
              <a:endParaRPr lang="en-US" sz="1050" b="1" dirty="0" smtClean="0"/>
            </a:p>
          </p:txBody>
        </p:sp>
      </p:grpSp>
      <p:cxnSp>
        <p:nvCxnSpPr>
          <p:cNvPr id="109" name="Straight Arrow Connector 108"/>
          <p:cNvCxnSpPr/>
          <p:nvPr/>
        </p:nvCxnSpPr>
        <p:spPr>
          <a:xfrm>
            <a:off x="7058769" y="3927695"/>
            <a:ext cx="505077" cy="72674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flipH="1">
            <a:off x="4894052" y="3940738"/>
            <a:ext cx="507522" cy="70953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/>
          <p:cNvGrpSpPr/>
          <p:nvPr/>
        </p:nvGrpSpPr>
        <p:grpSpPr>
          <a:xfrm>
            <a:off x="4069508" y="4604523"/>
            <a:ext cx="1295400" cy="660473"/>
            <a:chOff x="6419774" y="1600202"/>
            <a:chExt cx="1295400" cy="660473"/>
          </a:xfrm>
        </p:grpSpPr>
        <p:sp>
          <p:nvSpPr>
            <p:cNvPr id="117" name="Oval 116"/>
            <p:cNvSpPr/>
            <p:nvPr/>
          </p:nvSpPr>
          <p:spPr>
            <a:xfrm>
              <a:off x="6767090" y="1600202"/>
              <a:ext cx="571500" cy="568652"/>
            </a:xfrm>
            <a:prstGeom prst="ellipse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6419774" y="1683594"/>
              <a:ext cx="129540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err="1" smtClean="0"/>
                <a:t>Rhoa</a:t>
              </a:r>
              <a:endParaRPr lang="en-US" sz="1050" b="1" dirty="0" smtClean="0"/>
            </a:p>
            <a:p>
              <a:pPr algn="ctr"/>
              <a:r>
                <a:rPr lang="en-US" sz="1050" b="1" dirty="0" smtClean="0"/>
                <a:t>S188</a:t>
              </a:r>
              <a:endParaRPr lang="en-US" sz="1050" b="1" dirty="0" smtClean="0"/>
            </a:p>
            <a:p>
              <a:pPr algn="ctr"/>
              <a:endParaRPr lang="en-US" sz="1050" b="1" dirty="0" smtClean="0"/>
            </a:p>
          </p:txBody>
        </p:sp>
      </p:grpSp>
      <p:cxnSp>
        <p:nvCxnSpPr>
          <p:cNvPr id="119" name="Straight Arrow Connector 118"/>
          <p:cNvCxnSpPr/>
          <p:nvPr/>
        </p:nvCxnSpPr>
        <p:spPr>
          <a:xfrm>
            <a:off x="4058929" y="3919270"/>
            <a:ext cx="505077" cy="72674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750278" y="4111823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400" b="1" dirty="0"/>
          </a:p>
        </p:txBody>
      </p:sp>
      <p:cxnSp>
        <p:nvCxnSpPr>
          <p:cNvPr id="125" name="Straight Arrow Connector 124"/>
          <p:cNvCxnSpPr>
            <a:stCxn id="75" idx="2"/>
          </p:cNvCxnSpPr>
          <p:nvPr/>
        </p:nvCxnSpPr>
        <p:spPr>
          <a:xfrm flipH="1">
            <a:off x="1749523" y="3917454"/>
            <a:ext cx="617707" cy="72562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>
            <a:off x="905774" y="3929330"/>
            <a:ext cx="505077" cy="72674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4996145" y="4416623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-A</a:t>
            </a:r>
            <a:endParaRPr lang="en-US" sz="1400" b="1" dirty="0"/>
          </a:p>
        </p:txBody>
      </p:sp>
      <p:sp>
        <p:nvSpPr>
          <p:cNvPr id="132" name="TextBox 131"/>
          <p:cNvSpPr txBox="1"/>
          <p:nvPr/>
        </p:nvSpPr>
        <p:spPr>
          <a:xfrm>
            <a:off x="4114800" y="4413755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A</a:t>
            </a:r>
            <a:endParaRPr lang="en-US" sz="1400" b="1" dirty="0"/>
          </a:p>
        </p:txBody>
      </p:sp>
      <p:sp>
        <p:nvSpPr>
          <p:cNvPr id="133" name="TextBox 132"/>
          <p:cNvSpPr txBox="1"/>
          <p:nvPr/>
        </p:nvSpPr>
        <p:spPr>
          <a:xfrm>
            <a:off x="1905015" y="4407997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-A</a:t>
            </a:r>
            <a:endParaRPr lang="en-US" sz="1400" b="1" dirty="0"/>
          </a:p>
        </p:txBody>
      </p:sp>
      <p:sp>
        <p:nvSpPr>
          <p:cNvPr id="134" name="TextBox 133"/>
          <p:cNvSpPr txBox="1"/>
          <p:nvPr/>
        </p:nvSpPr>
        <p:spPr>
          <a:xfrm>
            <a:off x="1023670" y="4405129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A</a:t>
            </a:r>
            <a:endParaRPr lang="en-US" sz="1400" b="1" dirty="0"/>
          </a:p>
        </p:txBody>
      </p:sp>
      <p:sp>
        <p:nvSpPr>
          <p:cNvPr id="135" name="TextBox 134"/>
          <p:cNvSpPr txBox="1"/>
          <p:nvPr/>
        </p:nvSpPr>
        <p:spPr>
          <a:xfrm>
            <a:off x="8026893" y="4405216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-A</a:t>
            </a:r>
            <a:endParaRPr lang="en-US" sz="1400" b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7145548" y="4402348"/>
            <a:ext cx="566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A</a:t>
            </a:r>
            <a:endParaRPr lang="en-US" sz="1400" b="1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7086600" y="5456619"/>
            <a:ext cx="1295400" cy="715581"/>
            <a:chOff x="4097548" y="5408766"/>
            <a:chExt cx="1295400" cy="715581"/>
          </a:xfrm>
        </p:grpSpPr>
        <p:sp>
          <p:nvSpPr>
            <p:cNvPr id="140" name="Rectangle 139"/>
            <p:cNvSpPr/>
            <p:nvPr/>
          </p:nvSpPr>
          <p:spPr>
            <a:xfrm>
              <a:off x="4165122" y="5410200"/>
              <a:ext cx="1121428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4097548" y="5408766"/>
              <a:ext cx="1295400" cy="715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smtClean="0"/>
                <a:t>Actin </a:t>
              </a:r>
              <a:r>
                <a:rPr lang="en-US" sz="1000" b="1" dirty="0" err="1" smtClean="0"/>
                <a:t>Depolymerization</a:t>
              </a:r>
              <a:r>
                <a:rPr lang="en-US" sz="1000" b="1" dirty="0" smtClean="0"/>
                <a:t> </a:t>
              </a:r>
            </a:p>
            <a:p>
              <a:pPr algn="ctr"/>
              <a:r>
                <a:rPr lang="en-US" sz="1000" b="1" dirty="0" smtClean="0"/>
                <a:t>(Apical Cortex)</a:t>
              </a:r>
              <a:endParaRPr lang="en-US" sz="1000" b="1" dirty="0" smtClean="0"/>
            </a:p>
            <a:p>
              <a:pPr algn="ctr"/>
              <a:endParaRPr lang="en-US" sz="1050" b="1" dirty="0" smtClean="0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914400" y="5430741"/>
            <a:ext cx="1295400" cy="715581"/>
            <a:chOff x="4097548" y="5408766"/>
            <a:chExt cx="1295400" cy="715581"/>
          </a:xfrm>
        </p:grpSpPr>
        <p:sp>
          <p:nvSpPr>
            <p:cNvPr id="143" name="Rectangle 142"/>
            <p:cNvSpPr/>
            <p:nvPr/>
          </p:nvSpPr>
          <p:spPr>
            <a:xfrm>
              <a:off x="4165122" y="5410200"/>
              <a:ext cx="1121428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4097548" y="5408766"/>
              <a:ext cx="1295400" cy="715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 smtClean="0"/>
                <a:t>Increased Actin Polymerization </a:t>
              </a:r>
            </a:p>
            <a:p>
              <a:pPr algn="ctr"/>
              <a:r>
                <a:rPr lang="en-US" sz="1000" b="1" dirty="0" smtClean="0"/>
                <a:t>(Junctional)</a:t>
              </a:r>
              <a:endParaRPr lang="en-US" sz="1000" b="1" dirty="0" smtClean="0"/>
            </a:p>
            <a:p>
              <a:pPr algn="ctr"/>
              <a:endParaRPr lang="en-US" sz="1050" b="1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55175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3278</TotalTime>
  <Words>155</Words>
  <Application>Microsoft Office PowerPoint</Application>
  <PresentationFormat>On-screen Show (4:3)</PresentationFormat>
  <Paragraphs>73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NHLBI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Knepper, Mark A (NIH/NHLBI) [E]</dc:creator>
  <cp:lastModifiedBy>Knepper, Mark A (NIH/NHLBI) [E]</cp:lastModifiedBy>
  <cp:revision>21</cp:revision>
  <dcterms:created xsi:type="dcterms:W3CDTF">2016-12-12T15:14:41Z</dcterms:created>
  <dcterms:modified xsi:type="dcterms:W3CDTF">2017-01-10T16:46:07Z</dcterms:modified>
</cp:coreProperties>
</file>