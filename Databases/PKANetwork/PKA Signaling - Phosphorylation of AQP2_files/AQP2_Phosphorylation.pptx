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CCFFCC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7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46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5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36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923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56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248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39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917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229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84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8A84D-F01C-422E-A195-CEC7543617FF}" type="datetimeFigureOut">
              <a:rPr lang="en-US" smtClean="0"/>
              <a:t>12/18/2016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18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A84D-F01C-422E-A195-CEC7543617FF}" type="datetimeFigureOut">
              <a:rPr lang="en-US" smtClean="0"/>
              <a:t>12/18/2016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EAD56-BAAD-4592-A6A1-6FF04CC3D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09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" name="Straight Arrow Connector 182"/>
          <p:cNvCxnSpPr/>
          <p:nvPr/>
        </p:nvCxnSpPr>
        <p:spPr>
          <a:xfrm>
            <a:off x="2133600" y="4572000"/>
            <a:ext cx="8120" cy="685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/>
          <p:nvPr/>
        </p:nvCxnSpPr>
        <p:spPr>
          <a:xfrm>
            <a:off x="2133600" y="3426023"/>
            <a:ext cx="8120" cy="685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2209800" y="3807023"/>
            <a:ext cx="474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B</a:t>
            </a:r>
            <a:endParaRPr lang="en-US" sz="1050" b="1" dirty="0"/>
          </a:p>
        </p:txBody>
      </p:sp>
      <p:cxnSp>
        <p:nvCxnSpPr>
          <p:cNvPr id="173" name="Straight Arrow Connector 172"/>
          <p:cNvCxnSpPr/>
          <p:nvPr/>
        </p:nvCxnSpPr>
        <p:spPr>
          <a:xfrm>
            <a:off x="2133600" y="2286000"/>
            <a:ext cx="8120" cy="685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hlinkClick r:id="rId2" action="ppaction://hlinksldjump" tooltip="Demonstrated by ChIP-Seq, present study."/>
          </p:cNvPr>
          <p:cNvSpPr/>
          <p:nvPr/>
        </p:nvSpPr>
        <p:spPr>
          <a:xfrm>
            <a:off x="20032600" y="13040685"/>
            <a:ext cx="1799574" cy="887582"/>
          </a:xfrm>
          <a:prstGeom prst="rect">
            <a:avLst/>
          </a:prstGeom>
          <a:solidFill>
            <a:srgbClr val="CCFFCC"/>
          </a:solidFill>
          <a:ln w="63500">
            <a:solidFill>
              <a:srgbClr val="003300">
                <a:alpha val="9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hlinkClick r:id="rId2" action="ppaction://hlinksldjump" tooltip="The putative Sik2 site in CREBBP (Ser77 SELLRGGS*GSSINPG) was not identified in PKA dKO cells. The tryptic peptide would be 45 amino acids in length."/>
          </p:cNvPr>
          <p:cNvSpPr/>
          <p:nvPr/>
        </p:nvSpPr>
        <p:spPr>
          <a:xfrm>
            <a:off x="20363163" y="7586349"/>
            <a:ext cx="943585" cy="990600"/>
          </a:xfrm>
          <a:prstGeom prst="ellipse">
            <a:avLst/>
          </a:prstGeom>
          <a:solidFill>
            <a:srgbClr val="CCFFCC"/>
          </a:solidFill>
          <a:ln w="63500"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hlinkClick r:id="rId2" action="ppaction://hlinksldjump" tooltip="SIK2 inhibits p300 HAT activity by direct phosphorylation on Ser89 (21084751). This is probably true for the equivalent site on CREBBP, also a histone acetyltransferase"/>
          </p:cNvPr>
          <p:cNvSpPr/>
          <p:nvPr/>
        </p:nvSpPr>
        <p:spPr>
          <a:xfrm>
            <a:off x="20573443" y="6344554"/>
            <a:ext cx="727267" cy="12266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hlinkClick r:id="rId2" action="ppaction://hlinksldjump" tooltip="In Sik2, two sites showed decreased phosphorylation in PKA double KO:  Ser358 (dKO/cont = 0.043) and Ser587 (dKO/cont = 0.484).  "/>
          </p:cNvPr>
          <p:cNvSpPr/>
          <p:nvPr/>
        </p:nvSpPr>
        <p:spPr>
          <a:xfrm>
            <a:off x="20489866" y="5347743"/>
            <a:ext cx="943585" cy="990600"/>
          </a:xfrm>
          <a:prstGeom prst="ellipse">
            <a:avLst/>
          </a:prstGeom>
          <a:solidFill>
            <a:srgbClr val="FFCCCC"/>
          </a:solidFill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7594266" y="5307433"/>
            <a:ext cx="943585" cy="9906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hlinkClick r:id="rId2" action="ppaction://hlinksldjump" tooltip="In Sik2, two sites showed decreased phosphorylation in PKA double KO:  Ser358 (dKO/cont = 0.043) and Ser587 (dKO/cont = 0.484).  "/>
          </p:cNvPr>
          <p:cNvSpPr txBox="1"/>
          <p:nvPr/>
        </p:nvSpPr>
        <p:spPr>
          <a:xfrm>
            <a:off x="20335325" y="5456134"/>
            <a:ext cx="1295400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Sik2</a:t>
            </a:r>
          </a:p>
          <a:p>
            <a:pPr algn="ctr"/>
            <a:r>
              <a:rPr lang="en-US" sz="1600" b="1" dirty="0" smtClean="0"/>
              <a:t> S358</a:t>
            </a:r>
            <a:r>
              <a:rPr lang="en-US" sz="1600" b="1" dirty="0"/>
              <a:t>/</a:t>
            </a:r>
          </a:p>
          <a:p>
            <a:pPr algn="ctr"/>
            <a:r>
              <a:rPr lang="en-US" sz="1600" b="1" dirty="0"/>
              <a:t> S587</a:t>
            </a:r>
          </a:p>
          <a:p>
            <a:pPr algn="ctr"/>
            <a:endParaRPr lang="en-US" sz="1050" b="1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20885556" y="8564522"/>
            <a:ext cx="10576" cy="1812855"/>
          </a:xfrm>
          <a:prstGeom prst="straightConnector1">
            <a:avLst/>
          </a:prstGeom>
          <a:ln w="635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hlinkClick r:id="rId2" action="ppaction://hlinksldjump" tooltip="CREBBP is  a histone acetyltransferase.                                                                                         "/>
          </p:cNvPr>
          <p:cNvSpPr txBox="1"/>
          <p:nvPr/>
        </p:nvSpPr>
        <p:spPr>
          <a:xfrm>
            <a:off x="20022418" y="13051697"/>
            <a:ext cx="1774268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Increased </a:t>
            </a:r>
            <a:r>
              <a:rPr lang="en-US" sz="1600" b="1" dirty="0" smtClean="0"/>
              <a:t>H3K27 Acetylation of  </a:t>
            </a:r>
            <a:r>
              <a:rPr lang="en-US" sz="1600" b="1" i="1" dirty="0" smtClean="0"/>
              <a:t>Aqp2</a:t>
            </a:r>
            <a:r>
              <a:rPr lang="en-US" sz="1600" b="1" dirty="0" smtClean="0"/>
              <a:t> Gene</a:t>
            </a:r>
            <a:endParaRPr lang="en-US" sz="1600" b="1" dirty="0"/>
          </a:p>
          <a:p>
            <a:pPr algn="ctr"/>
            <a:endParaRPr lang="en-US" sz="1050" b="1" dirty="0"/>
          </a:p>
        </p:txBody>
      </p:sp>
      <p:sp>
        <p:nvSpPr>
          <p:cNvPr id="12" name="TextBox 11">
            <a:hlinkClick r:id="rId2" action="ppaction://hlinksldjump" tooltip="test"/>
          </p:cNvPr>
          <p:cNvSpPr txBox="1"/>
          <p:nvPr/>
        </p:nvSpPr>
        <p:spPr>
          <a:xfrm>
            <a:off x="21477881" y="5094592"/>
            <a:ext cx="566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21194310" y="3230048"/>
            <a:ext cx="2678150" cy="2090101"/>
          </a:xfrm>
          <a:prstGeom prst="straightConnector1">
            <a:avLst/>
          </a:prstGeom>
          <a:ln w="63500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20918026" y="5113642"/>
            <a:ext cx="540805" cy="361542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hlinkClick r:id="rId2" action="ppaction://hlinksldjump" tooltip="The putative Sik2 site in CREBBP (Ser77 SELLRGGS*GSSINPG) was not identified in PKA dKO cells. The tryptic peptide would be 45 amino acids in length."/>
          </p:cNvPr>
          <p:cNvSpPr txBox="1"/>
          <p:nvPr/>
        </p:nvSpPr>
        <p:spPr>
          <a:xfrm>
            <a:off x="20178492" y="7793543"/>
            <a:ext cx="1359081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 smtClean="0"/>
              <a:t>Crebbp</a:t>
            </a:r>
            <a:endParaRPr lang="en-US" sz="1600" b="1" dirty="0" smtClean="0"/>
          </a:p>
          <a:p>
            <a:pPr algn="ctr"/>
            <a:r>
              <a:rPr lang="en-US" sz="1600" b="1" dirty="0" smtClean="0"/>
              <a:t>Ser77</a:t>
            </a:r>
            <a:endParaRPr lang="en-US" sz="1600" b="1" dirty="0"/>
          </a:p>
          <a:p>
            <a:pPr algn="ctr"/>
            <a:endParaRPr lang="en-US" sz="1050" b="1" dirty="0"/>
          </a:p>
        </p:txBody>
      </p:sp>
      <p:sp>
        <p:nvSpPr>
          <p:cNvPr id="16" name="Oval 15"/>
          <p:cNvSpPr/>
          <p:nvPr/>
        </p:nvSpPr>
        <p:spPr>
          <a:xfrm>
            <a:off x="19307259" y="2910937"/>
            <a:ext cx="943585" cy="990600"/>
          </a:xfrm>
          <a:prstGeom prst="ellipse">
            <a:avLst/>
          </a:prstGeom>
          <a:solidFill>
            <a:srgbClr val="CCFFCC"/>
          </a:solidFill>
          <a:ln w="63500"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20937076" y="6344554"/>
            <a:ext cx="16206" cy="1049371"/>
          </a:xfrm>
          <a:prstGeom prst="straightConnector1">
            <a:avLst/>
          </a:prstGeom>
          <a:ln w="6350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0573443" y="7224648"/>
            <a:ext cx="727267" cy="36648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1194344" y="7224648"/>
            <a:ext cx="566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</a:t>
            </a:r>
          </a:p>
        </p:txBody>
      </p:sp>
      <p:sp>
        <p:nvSpPr>
          <p:cNvPr id="20" name="Rectangle 19">
            <a:hlinkClick r:id="rId2" action="ppaction://hlinksldjump" tooltip="CREBBP translocates into the nuclei of mpkCCD cells in response to vasopressin along with beta-catenin (Schenk, 22440904)."/>
          </p:cNvPr>
          <p:cNvSpPr/>
          <p:nvPr/>
        </p:nvSpPr>
        <p:spPr>
          <a:xfrm>
            <a:off x="20029060" y="10370573"/>
            <a:ext cx="1803114" cy="887582"/>
          </a:xfrm>
          <a:prstGeom prst="rect">
            <a:avLst/>
          </a:prstGeom>
          <a:solidFill>
            <a:srgbClr val="CCFFCC"/>
          </a:solidFill>
          <a:ln w="63500">
            <a:solidFill>
              <a:srgbClr val="003300">
                <a:alpha val="9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20947994" y="11225808"/>
            <a:ext cx="10576" cy="1812855"/>
          </a:xfrm>
          <a:prstGeom prst="straightConnector1">
            <a:avLst/>
          </a:prstGeom>
          <a:ln w="635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6242026" y="3165694"/>
            <a:ext cx="1803114" cy="887582"/>
          </a:xfrm>
          <a:prstGeom prst="rect">
            <a:avLst/>
          </a:prstGeom>
          <a:noFill/>
          <a:ln w="38100">
            <a:solidFill>
              <a:srgbClr val="003300">
                <a:alpha val="98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hlinkClick r:id="rId2" action="ppaction://hlinksldjump" tooltip="CREBBP translocates into the nuclei of mpkCCD cells in response to vasopressin along with beta-catenin (Schenk, 22440904)."/>
          </p:cNvPr>
          <p:cNvSpPr txBox="1"/>
          <p:nvPr/>
        </p:nvSpPr>
        <p:spPr>
          <a:xfrm>
            <a:off x="20156655" y="10399128"/>
            <a:ext cx="1497818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Crebbp</a:t>
            </a:r>
            <a:r>
              <a:rPr lang="en-US" sz="1600" b="1" dirty="0"/>
              <a:t> Translocation to Nucleus</a:t>
            </a:r>
          </a:p>
          <a:p>
            <a:pPr algn="ctr"/>
            <a:endParaRPr lang="en-US" sz="1050" b="1" dirty="0"/>
          </a:p>
        </p:txBody>
      </p:sp>
      <p:grpSp>
        <p:nvGrpSpPr>
          <p:cNvPr id="24" name="Group 23"/>
          <p:cNvGrpSpPr/>
          <p:nvPr/>
        </p:nvGrpSpPr>
        <p:grpSpPr>
          <a:xfrm>
            <a:off x="23041626" y="1070193"/>
            <a:ext cx="5647674" cy="3204905"/>
            <a:chOff x="23041626" y="4232493"/>
            <a:chExt cx="2561574" cy="2115847"/>
          </a:xfrm>
        </p:grpSpPr>
        <p:sp>
          <p:nvSpPr>
            <p:cNvPr id="25" name="Rectangle 24"/>
            <p:cNvSpPr/>
            <p:nvPr/>
          </p:nvSpPr>
          <p:spPr>
            <a:xfrm>
              <a:off x="23041626" y="4232493"/>
              <a:ext cx="2561574" cy="2115847"/>
            </a:xfrm>
            <a:prstGeom prst="rect">
              <a:avLst/>
            </a:prstGeom>
            <a:solidFill>
              <a:srgbClr val="FFFFCC"/>
            </a:solidFill>
            <a:ln w="101600">
              <a:solidFill>
                <a:srgbClr val="003300">
                  <a:alpha val="9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3088600" y="4553692"/>
              <a:ext cx="2476500" cy="152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b="1" dirty="0" smtClean="0"/>
                <a:t>Protein Kinase A</a:t>
              </a:r>
              <a:endParaRPr lang="en-US" sz="7200" b="1" dirty="0"/>
            </a:p>
          </p:txBody>
        </p:sp>
      </p:grpSp>
      <p:sp>
        <p:nvSpPr>
          <p:cNvPr id="27" name="Rectangle 26">
            <a:hlinkClick r:id="rId2" action="ppaction://hlinksldjump" tooltip="PKA phosphorylates  S358  of Sik2 (22462548), reducing enzymatic activity (25472719) via 14-3-3 binding (Intro. to 25472719). cAMP decreases SIK2 activity via the PKA-mediated phosphorylation of SIK2 at S587 (14693422). "/>
          </p:cNvPr>
          <p:cNvSpPr/>
          <p:nvPr/>
        </p:nvSpPr>
        <p:spPr>
          <a:xfrm rot="3215076">
            <a:off x="21732948" y="3731461"/>
            <a:ext cx="561316" cy="185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20756566" y="2890293"/>
            <a:ext cx="943585" cy="990600"/>
          </a:xfrm>
          <a:prstGeom prst="ellipse">
            <a:avLst/>
          </a:prstGeom>
          <a:solidFill>
            <a:srgbClr val="FFCCCC"/>
          </a:solidFill>
          <a:ln w="635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hlinkClick r:id="rId2" action="ppaction://hlinksldjump" tooltip="SIK2 inhibits p300 HAT activity by direct phosphorylation on Ser89 (21084751). This is probably true for the equivalent site on CREBBP, also a histone acetyltransferase"/>
          </p:cNvPr>
          <p:cNvSpPr/>
          <p:nvPr/>
        </p:nvSpPr>
        <p:spPr>
          <a:xfrm>
            <a:off x="20478194" y="8743949"/>
            <a:ext cx="750164" cy="1428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/>
          <p:cNvGrpSpPr/>
          <p:nvPr/>
        </p:nvGrpSpPr>
        <p:grpSpPr>
          <a:xfrm>
            <a:off x="18375249" y="27089100"/>
            <a:ext cx="5399151" cy="2838450"/>
            <a:chOff x="18775299" y="23488650"/>
            <a:chExt cx="5399151" cy="2838450"/>
          </a:xfrm>
        </p:grpSpPr>
        <p:sp>
          <p:nvSpPr>
            <p:cNvPr id="31" name="Rectangle 30">
              <a:hlinkClick r:id="rId2" action="ppaction://hlinksldjump" tooltip="Marked decrease in Aqp2 mRNA in PKA dKO (present study).  Vasopressin markedly increases Aqp2 mRNA and RNA Pol-II occupancy (27725713)."/>
            </p:cNvPr>
            <p:cNvSpPr/>
            <p:nvPr/>
          </p:nvSpPr>
          <p:spPr>
            <a:xfrm>
              <a:off x="18775299" y="23488650"/>
              <a:ext cx="5399151" cy="2838450"/>
            </a:xfrm>
            <a:prstGeom prst="rect">
              <a:avLst/>
            </a:prstGeom>
            <a:solidFill>
              <a:srgbClr val="FFFFCC"/>
            </a:solidFill>
            <a:ln w="63500">
              <a:solidFill>
                <a:srgbClr val="003300">
                  <a:alpha val="9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hlinkClick r:id="rId2" action="ppaction://hlinksldjump" tooltip="Marked decrease in Aqp2 mRNA in PKA dKO (present study).  Vasopressin increases Aqp2 mRNA and RNA Pol-II occupancy (27725713).                                                                        "/>
            </p:cNvPr>
            <p:cNvSpPr txBox="1"/>
            <p:nvPr/>
          </p:nvSpPr>
          <p:spPr>
            <a:xfrm>
              <a:off x="18974667" y="23602925"/>
              <a:ext cx="4990233" cy="2585323"/>
            </a:xfrm>
            <a:prstGeom prst="rect">
              <a:avLst/>
            </a:prstGeom>
            <a:solidFill>
              <a:srgbClr val="FFFFCC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dirty="0"/>
                <a:t>Increased </a:t>
              </a:r>
              <a:r>
                <a:rPr lang="en-US" sz="5400" b="1" i="1" dirty="0" smtClean="0"/>
                <a:t>Aqp2</a:t>
              </a:r>
              <a:r>
                <a:rPr lang="en-US" sz="5400" b="1" dirty="0" smtClean="0"/>
                <a:t> Gene Transcription </a:t>
              </a:r>
              <a:endParaRPr lang="en-US" sz="5400" b="1" dirty="0"/>
            </a:p>
          </p:txBody>
        </p:sp>
      </p:grpSp>
      <p:cxnSp>
        <p:nvCxnSpPr>
          <p:cNvPr id="33" name="Straight Arrow Connector 32"/>
          <p:cNvCxnSpPr/>
          <p:nvPr/>
        </p:nvCxnSpPr>
        <p:spPr>
          <a:xfrm>
            <a:off x="20967044" y="13911858"/>
            <a:ext cx="95672" cy="13177242"/>
          </a:xfrm>
          <a:prstGeom prst="straightConnector1">
            <a:avLst/>
          </a:prstGeom>
          <a:ln w="635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hlinkClick r:id="rId2" action="ppaction://hlinksldjump" tooltip="Two mTOR phosphorylation sites decreased  in phospho-occupancy in PKA dKO: Ser2448 (SRTRTDS*YSAGQS), dKO/cont = 0.58; Ser2481 (not basophilic  VPESIHS*FIGDGL), dKO/con = 0.18.  Both phoshorylation events increase enzyme activity (Kinexus PhospoNet).   "/>
          </p:cNvPr>
          <p:cNvSpPr/>
          <p:nvPr/>
        </p:nvSpPr>
        <p:spPr>
          <a:xfrm>
            <a:off x="23582453" y="6271737"/>
            <a:ext cx="943585" cy="990600"/>
          </a:xfrm>
          <a:prstGeom prst="ellipse">
            <a:avLst/>
          </a:prstGeom>
          <a:solidFill>
            <a:srgbClr val="CCFFCC"/>
          </a:solidFill>
          <a:ln w="63500"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24101978" y="4275098"/>
            <a:ext cx="10576" cy="2003549"/>
          </a:xfrm>
          <a:prstGeom prst="straightConnector1">
            <a:avLst/>
          </a:prstGeom>
          <a:ln w="635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hlinkClick r:id="rId2" action="ppaction://hlinksldjump" tooltip="SIK2 inhibits p300 HAT activity by direct phosphorylation on Ser89 (21084751). This is probably true for the equivalent site on CREBBP, also a histone acetyltransferase"/>
          </p:cNvPr>
          <p:cNvSpPr/>
          <p:nvPr/>
        </p:nvSpPr>
        <p:spPr>
          <a:xfrm>
            <a:off x="23694616" y="4645219"/>
            <a:ext cx="750164" cy="1428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hlinkClick r:id="rId2" action="ppaction://hlinksldjump" tooltip="Two mTOR phosphorylation sites decreased  in phospho-occupancy in PKA dKO: Ser2448 (SRTRTDS*YSAGQS), dKO/cont = 0.58; Ser2481 (not basophilic  VPESIHS*FIGDGL), dKO/con = 0.18.  Both phoshorylation events increase enzyme activity (Kinexus PhospoNet).   "/>
          </p:cNvPr>
          <p:cNvSpPr txBox="1"/>
          <p:nvPr/>
        </p:nvSpPr>
        <p:spPr>
          <a:xfrm>
            <a:off x="23455495" y="6442718"/>
            <a:ext cx="1295400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 smtClean="0"/>
              <a:t>Mtor</a:t>
            </a:r>
            <a:r>
              <a:rPr lang="en-US" sz="1600" b="1" dirty="0" smtClean="0"/>
              <a:t> </a:t>
            </a:r>
          </a:p>
          <a:p>
            <a:pPr algn="ctr"/>
            <a:r>
              <a:rPr lang="en-US" sz="1600" b="1" dirty="0" smtClean="0"/>
              <a:t>S2448</a:t>
            </a:r>
            <a:endParaRPr lang="en-US" sz="1600" b="1" dirty="0"/>
          </a:p>
          <a:p>
            <a:pPr algn="ctr"/>
            <a:endParaRPr lang="en-US" sz="1050" b="1" dirty="0"/>
          </a:p>
        </p:txBody>
      </p:sp>
      <p:sp>
        <p:nvSpPr>
          <p:cNvPr id="38" name="TextBox 37">
            <a:hlinkClick r:id="rId2" action="ppaction://hlinksldjump" tooltip="test"/>
          </p:cNvPr>
          <p:cNvSpPr txBox="1"/>
          <p:nvPr/>
        </p:nvSpPr>
        <p:spPr>
          <a:xfrm>
            <a:off x="24389505" y="6000966"/>
            <a:ext cx="566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P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23194026" y="1222593"/>
            <a:ext cx="5647674" cy="3204905"/>
            <a:chOff x="23041626" y="4232493"/>
            <a:chExt cx="2561574" cy="2115847"/>
          </a:xfrm>
        </p:grpSpPr>
        <p:sp>
          <p:nvSpPr>
            <p:cNvPr id="40" name="Rectangle 39"/>
            <p:cNvSpPr/>
            <p:nvPr/>
          </p:nvSpPr>
          <p:spPr>
            <a:xfrm>
              <a:off x="23041626" y="4232493"/>
              <a:ext cx="2561574" cy="2115847"/>
            </a:xfrm>
            <a:prstGeom prst="rect">
              <a:avLst/>
            </a:prstGeom>
            <a:solidFill>
              <a:srgbClr val="FFFFCC"/>
            </a:solidFill>
            <a:ln w="101600">
              <a:solidFill>
                <a:srgbClr val="003300">
                  <a:alpha val="98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3088600" y="4553692"/>
              <a:ext cx="2476500" cy="15239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b="1" dirty="0" smtClean="0"/>
                <a:t>Protein Kinase A</a:t>
              </a:r>
              <a:endParaRPr lang="en-US" sz="7200" b="1" dirty="0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1495425" y="2985380"/>
            <a:ext cx="1295400" cy="609600"/>
            <a:chOff x="1032479" y="3733800"/>
            <a:chExt cx="1295400" cy="609600"/>
          </a:xfrm>
        </p:grpSpPr>
        <p:sp>
          <p:nvSpPr>
            <p:cNvPr id="50" name="Oval 49"/>
            <p:cNvSpPr/>
            <p:nvPr/>
          </p:nvSpPr>
          <p:spPr>
            <a:xfrm>
              <a:off x="1371600" y="3733800"/>
              <a:ext cx="571500" cy="609600"/>
            </a:xfrm>
            <a:prstGeom prst="ellipse">
              <a:avLst/>
            </a:prstGeom>
            <a:solidFill>
              <a:srgbClr val="CCFFCC"/>
            </a:solidFill>
            <a:ln>
              <a:solidFill>
                <a:srgbClr val="00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032479" y="3895272"/>
              <a:ext cx="129540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Calm2</a:t>
              </a:r>
              <a:endParaRPr lang="en-US" sz="1050" b="1" dirty="0" smtClean="0"/>
            </a:p>
            <a:p>
              <a:pPr algn="ctr"/>
              <a:endParaRPr lang="en-US" sz="1050" b="1" dirty="0" smtClean="0"/>
            </a:p>
          </p:txBody>
        </p:sp>
      </p:grpSp>
      <p:cxnSp>
        <p:nvCxnSpPr>
          <p:cNvPr id="90" name="Straight Arrow Connector 89"/>
          <p:cNvCxnSpPr/>
          <p:nvPr/>
        </p:nvCxnSpPr>
        <p:spPr>
          <a:xfrm>
            <a:off x="3857625" y="942975"/>
            <a:ext cx="0" cy="4312015"/>
          </a:xfrm>
          <a:prstGeom prst="straightConnector1">
            <a:avLst/>
          </a:prstGeom>
          <a:ln w="635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4021369" y="4873823"/>
            <a:ext cx="474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050" b="1" dirty="0"/>
          </a:p>
        </p:txBody>
      </p:sp>
      <p:cxnSp>
        <p:nvCxnSpPr>
          <p:cNvPr id="107" name="Straight Arrow Connector 106"/>
          <p:cNvCxnSpPr>
            <a:stCxn id="77" idx="6"/>
          </p:cNvCxnSpPr>
          <p:nvPr/>
        </p:nvCxnSpPr>
        <p:spPr>
          <a:xfrm>
            <a:off x="4240030" y="817435"/>
            <a:ext cx="1494020" cy="287174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>
            <a:off x="4155726" y="710440"/>
            <a:ext cx="2304855" cy="34447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/>
          <p:cNvCxnSpPr/>
          <p:nvPr/>
        </p:nvCxnSpPr>
        <p:spPr>
          <a:xfrm>
            <a:off x="6108172" y="1356486"/>
            <a:ext cx="645053" cy="390131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/>
          <p:nvPr/>
        </p:nvCxnSpPr>
        <p:spPr>
          <a:xfrm>
            <a:off x="6858000" y="1099585"/>
            <a:ext cx="0" cy="414869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Group 114"/>
          <p:cNvGrpSpPr/>
          <p:nvPr/>
        </p:nvGrpSpPr>
        <p:grpSpPr>
          <a:xfrm>
            <a:off x="3228975" y="5254990"/>
            <a:ext cx="1295400" cy="679085"/>
            <a:chOff x="1024359" y="3733800"/>
            <a:chExt cx="1295400" cy="679085"/>
          </a:xfrm>
        </p:grpSpPr>
        <p:sp>
          <p:nvSpPr>
            <p:cNvPr id="116" name="Oval 115"/>
            <p:cNvSpPr/>
            <p:nvPr/>
          </p:nvSpPr>
          <p:spPr>
            <a:xfrm>
              <a:off x="1371600" y="3733800"/>
              <a:ext cx="571500" cy="609600"/>
            </a:xfrm>
            <a:prstGeom prst="ellipse">
              <a:avLst/>
            </a:prstGeom>
            <a:solidFill>
              <a:srgbClr val="CCFFCC"/>
            </a:solidFill>
            <a:ln>
              <a:solidFill>
                <a:srgbClr val="00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1024359" y="3835804"/>
              <a:ext cx="1295400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Aqp2</a:t>
              </a:r>
            </a:p>
            <a:p>
              <a:pPr algn="ctr"/>
              <a:r>
                <a:rPr lang="en-US" sz="1050" b="1" dirty="0" smtClean="0"/>
                <a:t>S269</a:t>
              </a:r>
              <a:endParaRPr lang="en-US" sz="1050" b="1" dirty="0" smtClean="0"/>
            </a:p>
            <a:p>
              <a:pPr algn="ctr"/>
              <a:endParaRPr lang="en-US" sz="1050" b="1" dirty="0" smtClean="0"/>
            </a:p>
          </p:txBody>
        </p:sp>
      </p:grpSp>
      <p:cxnSp>
        <p:nvCxnSpPr>
          <p:cNvPr id="131" name="Straight Connector 130"/>
          <p:cNvCxnSpPr/>
          <p:nvPr/>
        </p:nvCxnSpPr>
        <p:spPr>
          <a:xfrm flipH="1">
            <a:off x="5552235" y="1009650"/>
            <a:ext cx="258015" cy="2313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/>
          <p:nvPr/>
        </p:nvCxnSpPr>
        <p:spPr>
          <a:xfrm flipH="1">
            <a:off x="6371386" y="586291"/>
            <a:ext cx="146345" cy="2900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" name="Group 137"/>
          <p:cNvGrpSpPr/>
          <p:nvPr/>
        </p:nvGrpSpPr>
        <p:grpSpPr>
          <a:xfrm>
            <a:off x="5457825" y="942975"/>
            <a:ext cx="1295400" cy="609600"/>
            <a:chOff x="352425" y="1683516"/>
            <a:chExt cx="1295400" cy="609600"/>
          </a:xfrm>
        </p:grpSpPr>
        <p:sp>
          <p:nvSpPr>
            <p:cNvPr id="139" name="Oval 138"/>
            <p:cNvSpPr/>
            <p:nvPr/>
          </p:nvSpPr>
          <p:spPr>
            <a:xfrm>
              <a:off x="691657" y="1683516"/>
              <a:ext cx="571500" cy="609600"/>
            </a:xfrm>
            <a:prstGeom prst="ellipse">
              <a:avLst/>
            </a:prstGeom>
            <a:solidFill>
              <a:srgbClr val="FFCCCC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352425" y="1872072"/>
              <a:ext cx="129540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Mapk1</a:t>
              </a:r>
              <a:endParaRPr lang="en-US" sz="1050" b="1" dirty="0" smtClean="0"/>
            </a:p>
            <a:p>
              <a:pPr algn="ctr"/>
              <a:r>
                <a:rPr lang="en-US" sz="1050" b="1" dirty="0" smtClean="0"/>
                <a:t> </a:t>
              </a:r>
            </a:p>
          </p:txBody>
        </p:sp>
      </p:grpSp>
      <p:grpSp>
        <p:nvGrpSpPr>
          <p:cNvPr id="141" name="Group 140"/>
          <p:cNvGrpSpPr/>
          <p:nvPr/>
        </p:nvGrpSpPr>
        <p:grpSpPr>
          <a:xfrm>
            <a:off x="6200775" y="485775"/>
            <a:ext cx="1295400" cy="609600"/>
            <a:chOff x="352425" y="1683516"/>
            <a:chExt cx="1295400" cy="609600"/>
          </a:xfrm>
        </p:grpSpPr>
        <p:sp>
          <p:nvSpPr>
            <p:cNvPr id="142" name="Oval 141"/>
            <p:cNvSpPr/>
            <p:nvPr/>
          </p:nvSpPr>
          <p:spPr>
            <a:xfrm>
              <a:off x="691657" y="1683516"/>
              <a:ext cx="571500" cy="609600"/>
            </a:xfrm>
            <a:prstGeom prst="ellipse">
              <a:avLst/>
            </a:prstGeom>
            <a:solidFill>
              <a:srgbClr val="FFCCCC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352425" y="1872072"/>
              <a:ext cx="129540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Mapk8</a:t>
              </a:r>
              <a:endParaRPr lang="en-US" sz="1050" b="1" dirty="0" smtClean="0"/>
            </a:p>
            <a:p>
              <a:pPr algn="ctr"/>
              <a:r>
                <a:rPr lang="en-US" sz="1050" b="1" dirty="0" smtClean="0"/>
                <a:t> </a:t>
              </a:r>
            </a:p>
          </p:txBody>
        </p:sp>
      </p:grpSp>
      <p:sp>
        <p:nvSpPr>
          <p:cNvPr id="151" name="TextBox 150"/>
          <p:cNvSpPr txBox="1"/>
          <p:nvPr/>
        </p:nvSpPr>
        <p:spPr>
          <a:xfrm>
            <a:off x="4824902" y="228600"/>
            <a:ext cx="1194898" cy="461665"/>
          </a:xfrm>
          <a:prstGeom prst="rect">
            <a:avLst/>
          </a:prstGeom>
          <a:noFill/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 smtClean="0">
                <a:solidFill>
                  <a:srgbClr val="0070C0"/>
                </a:solidFill>
              </a:rPr>
              <a:t>MAP Kinase Pathways</a:t>
            </a:r>
            <a:endParaRPr lang="en-US" sz="1200" b="1" u="sng" dirty="0">
              <a:solidFill>
                <a:srgbClr val="0070C0"/>
              </a:solidFill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6383569" y="4876800"/>
            <a:ext cx="474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050" b="1" dirty="0"/>
          </a:p>
        </p:txBody>
      </p:sp>
      <p:sp>
        <p:nvSpPr>
          <p:cNvPr id="153" name="TextBox 152"/>
          <p:cNvSpPr txBox="1"/>
          <p:nvPr/>
        </p:nvSpPr>
        <p:spPr>
          <a:xfrm>
            <a:off x="6934200" y="4883348"/>
            <a:ext cx="474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050" b="1" dirty="0"/>
          </a:p>
        </p:txBody>
      </p:sp>
      <p:grpSp>
        <p:nvGrpSpPr>
          <p:cNvPr id="75" name="Group 74"/>
          <p:cNvGrpSpPr/>
          <p:nvPr/>
        </p:nvGrpSpPr>
        <p:grpSpPr>
          <a:xfrm>
            <a:off x="3401830" y="398335"/>
            <a:ext cx="838200" cy="838200"/>
            <a:chOff x="4114800" y="2514600"/>
            <a:chExt cx="838200" cy="838200"/>
          </a:xfrm>
        </p:grpSpPr>
        <p:sp>
          <p:nvSpPr>
            <p:cNvPr id="77" name="Oval 76"/>
            <p:cNvSpPr/>
            <p:nvPr/>
          </p:nvSpPr>
          <p:spPr>
            <a:xfrm>
              <a:off x="4114800" y="2514600"/>
              <a:ext cx="838200" cy="8382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238016" y="2724090"/>
              <a:ext cx="630680" cy="4001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b="1" dirty="0" smtClean="0">
                  <a:solidFill>
                    <a:schemeClr val="tx2">
                      <a:lumMod val="50000"/>
                    </a:schemeClr>
                  </a:solidFill>
                </a:rPr>
                <a:t>PKA</a:t>
              </a:r>
              <a:endParaRPr lang="en-US" sz="2000" b="1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</p:grpSp>
      <p:cxnSp>
        <p:nvCxnSpPr>
          <p:cNvPr id="161" name="Straight Arrow Connector 160"/>
          <p:cNvCxnSpPr/>
          <p:nvPr/>
        </p:nvCxnSpPr>
        <p:spPr>
          <a:xfrm flipH="1">
            <a:off x="2362200" y="990600"/>
            <a:ext cx="1063864" cy="348680"/>
          </a:xfrm>
          <a:prstGeom prst="straightConnector1">
            <a:avLst/>
          </a:prstGeom>
          <a:ln w="635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6" name="Group 165"/>
          <p:cNvGrpSpPr/>
          <p:nvPr/>
        </p:nvGrpSpPr>
        <p:grpSpPr>
          <a:xfrm>
            <a:off x="1447800" y="1943100"/>
            <a:ext cx="1295400" cy="738664"/>
            <a:chOff x="3712962" y="3585006"/>
            <a:chExt cx="1295400" cy="738664"/>
          </a:xfrm>
        </p:grpSpPr>
        <p:sp>
          <p:nvSpPr>
            <p:cNvPr id="167" name="Rectangle 166"/>
            <p:cNvSpPr/>
            <p:nvPr/>
          </p:nvSpPr>
          <p:spPr>
            <a:xfrm>
              <a:off x="3907772" y="3623732"/>
              <a:ext cx="892828" cy="491068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00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3712962" y="3585006"/>
              <a:ext cx="12954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Increased</a:t>
              </a:r>
            </a:p>
            <a:p>
              <a:pPr algn="ctr"/>
              <a:r>
                <a:rPr lang="en-US" sz="1050" b="1" dirty="0" smtClean="0"/>
                <a:t> Intracellular </a:t>
              </a:r>
            </a:p>
            <a:p>
              <a:pPr algn="ctr"/>
              <a:r>
                <a:rPr lang="en-US" sz="1050" b="1" dirty="0" smtClean="0"/>
                <a:t>Calcium</a:t>
              </a:r>
            </a:p>
            <a:p>
              <a:pPr algn="ctr"/>
              <a:endParaRPr lang="en-US" sz="1050" b="1" dirty="0" smtClean="0"/>
            </a:p>
          </p:txBody>
        </p:sp>
      </p:grpSp>
      <p:sp>
        <p:nvSpPr>
          <p:cNvPr id="169" name="TextBox 168"/>
          <p:cNvSpPr txBox="1"/>
          <p:nvPr/>
        </p:nvSpPr>
        <p:spPr>
          <a:xfrm>
            <a:off x="2514600" y="914400"/>
            <a:ext cx="474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050" b="1" dirty="0"/>
          </a:p>
        </p:txBody>
      </p:sp>
      <p:cxnSp>
        <p:nvCxnSpPr>
          <p:cNvPr id="170" name="Straight Arrow Connector 169"/>
          <p:cNvCxnSpPr/>
          <p:nvPr/>
        </p:nvCxnSpPr>
        <p:spPr>
          <a:xfrm>
            <a:off x="2125480" y="1295400"/>
            <a:ext cx="8120" cy="685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/>
          <p:cNvGrpSpPr/>
          <p:nvPr/>
        </p:nvGrpSpPr>
        <p:grpSpPr>
          <a:xfrm>
            <a:off x="1447800" y="1085850"/>
            <a:ext cx="1295400" cy="752404"/>
            <a:chOff x="1032479" y="3733800"/>
            <a:chExt cx="1295400" cy="752404"/>
          </a:xfrm>
        </p:grpSpPr>
        <p:sp>
          <p:nvSpPr>
            <p:cNvPr id="164" name="Oval 163"/>
            <p:cNvSpPr/>
            <p:nvPr/>
          </p:nvSpPr>
          <p:spPr>
            <a:xfrm>
              <a:off x="1371600" y="3733800"/>
              <a:ext cx="571500" cy="609600"/>
            </a:xfrm>
            <a:prstGeom prst="ellipse">
              <a:avLst/>
            </a:prstGeom>
            <a:solidFill>
              <a:srgbClr val="CCFFCC"/>
            </a:solidFill>
            <a:ln>
              <a:solidFill>
                <a:srgbClr val="00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1032479" y="3747540"/>
              <a:ext cx="129540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Itpr3</a:t>
              </a:r>
            </a:p>
            <a:p>
              <a:pPr algn="ctr"/>
              <a:r>
                <a:rPr lang="en-US" sz="1050" b="1" dirty="0" smtClean="0"/>
                <a:t>S934</a:t>
              </a:r>
            </a:p>
            <a:p>
              <a:pPr algn="ctr"/>
              <a:r>
                <a:rPr lang="en-US" sz="1050" b="1" dirty="0" smtClean="0"/>
                <a:t>S1832</a:t>
              </a:r>
            </a:p>
            <a:p>
              <a:pPr algn="ctr"/>
              <a:endParaRPr lang="en-US" sz="1050" b="1" dirty="0" smtClean="0"/>
            </a:p>
          </p:txBody>
        </p:sp>
      </p:grpSp>
      <p:sp>
        <p:nvSpPr>
          <p:cNvPr id="174" name="TextBox 173"/>
          <p:cNvSpPr txBox="1"/>
          <p:nvPr/>
        </p:nvSpPr>
        <p:spPr>
          <a:xfrm>
            <a:off x="2209800" y="2667000"/>
            <a:ext cx="474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B</a:t>
            </a:r>
            <a:endParaRPr lang="en-US" sz="1050" b="1" dirty="0"/>
          </a:p>
        </p:txBody>
      </p:sp>
      <p:grpSp>
        <p:nvGrpSpPr>
          <p:cNvPr id="177" name="Group 176"/>
          <p:cNvGrpSpPr/>
          <p:nvPr/>
        </p:nvGrpSpPr>
        <p:grpSpPr>
          <a:xfrm>
            <a:off x="1504950" y="4114800"/>
            <a:ext cx="1295400" cy="609600"/>
            <a:chOff x="1032479" y="3733800"/>
            <a:chExt cx="1295400" cy="609600"/>
          </a:xfrm>
        </p:grpSpPr>
        <p:sp>
          <p:nvSpPr>
            <p:cNvPr id="178" name="Oval 177"/>
            <p:cNvSpPr/>
            <p:nvPr/>
          </p:nvSpPr>
          <p:spPr>
            <a:xfrm>
              <a:off x="1371600" y="3733800"/>
              <a:ext cx="571500" cy="609600"/>
            </a:xfrm>
            <a:prstGeom prst="ellipse">
              <a:avLst/>
            </a:prstGeom>
            <a:solidFill>
              <a:srgbClr val="CCFFCC"/>
            </a:solidFill>
            <a:ln>
              <a:solidFill>
                <a:srgbClr val="00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TextBox 178"/>
            <p:cNvSpPr txBox="1"/>
            <p:nvPr/>
          </p:nvSpPr>
          <p:spPr>
            <a:xfrm>
              <a:off x="1032479" y="3918377"/>
              <a:ext cx="1295400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Camk2b</a:t>
              </a:r>
              <a:endParaRPr lang="en-US" sz="1050" b="1" dirty="0" smtClean="0"/>
            </a:p>
            <a:p>
              <a:pPr algn="ctr"/>
              <a:endParaRPr lang="en-US" sz="1050" b="1" dirty="0" smtClean="0"/>
            </a:p>
          </p:txBody>
        </p:sp>
      </p:grpSp>
      <p:grpSp>
        <p:nvGrpSpPr>
          <p:cNvPr id="180" name="Group 179"/>
          <p:cNvGrpSpPr/>
          <p:nvPr/>
        </p:nvGrpSpPr>
        <p:grpSpPr>
          <a:xfrm>
            <a:off x="1495425" y="5254990"/>
            <a:ext cx="1295400" cy="679085"/>
            <a:chOff x="1024359" y="3733800"/>
            <a:chExt cx="1295400" cy="679085"/>
          </a:xfrm>
        </p:grpSpPr>
        <p:sp>
          <p:nvSpPr>
            <p:cNvPr id="181" name="Oval 180"/>
            <p:cNvSpPr/>
            <p:nvPr/>
          </p:nvSpPr>
          <p:spPr>
            <a:xfrm>
              <a:off x="1371600" y="3733800"/>
              <a:ext cx="571500" cy="609600"/>
            </a:xfrm>
            <a:prstGeom prst="ellipse">
              <a:avLst/>
            </a:prstGeom>
            <a:solidFill>
              <a:srgbClr val="CCFFCC"/>
            </a:solidFill>
            <a:ln>
              <a:solidFill>
                <a:srgbClr val="0033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1024359" y="3835804"/>
              <a:ext cx="1295400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Aqp2</a:t>
              </a:r>
            </a:p>
            <a:p>
              <a:pPr algn="ctr"/>
              <a:r>
                <a:rPr lang="en-US" sz="1050" b="1" dirty="0" smtClean="0"/>
                <a:t>S256</a:t>
              </a:r>
              <a:endParaRPr lang="en-US" sz="1050" b="1" dirty="0" smtClean="0"/>
            </a:p>
            <a:p>
              <a:pPr algn="ctr"/>
              <a:endParaRPr lang="en-US" sz="1050" b="1" dirty="0" smtClean="0"/>
            </a:p>
          </p:txBody>
        </p:sp>
      </p:grpSp>
      <p:grpSp>
        <p:nvGrpSpPr>
          <p:cNvPr id="185" name="Group 184"/>
          <p:cNvGrpSpPr/>
          <p:nvPr/>
        </p:nvGrpSpPr>
        <p:grpSpPr>
          <a:xfrm>
            <a:off x="6210300" y="5267325"/>
            <a:ext cx="1295400" cy="672331"/>
            <a:chOff x="352425" y="1683516"/>
            <a:chExt cx="1295400" cy="672331"/>
          </a:xfrm>
        </p:grpSpPr>
        <p:sp>
          <p:nvSpPr>
            <p:cNvPr id="186" name="Oval 185"/>
            <p:cNvSpPr/>
            <p:nvPr/>
          </p:nvSpPr>
          <p:spPr>
            <a:xfrm>
              <a:off x="691657" y="1683516"/>
              <a:ext cx="571500" cy="609600"/>
            </a:xfrm>
            <a:prstGeom prst="ellipse">
              <a:avLst/>
            </a:prstGeom>
            <a:solidFill>
              <a:srgbClr val="FFCCCC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352425" y="1778766"/>
              <a:ext cx="1295400" cy="5770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b="1" dirty="0" smtClean="0"/>
                <a:t>Aqp2</a:t>
              </a:r>
            </a:p>
            <a:p>
              <a:pPr algn="ctr"/>
              <a:r>
                <a:rPr lang="en-US" sz="1050" b="1" dirty="0" smtClean="0"/>
                <a:t>S261</a:t>
              </a:r>
              <a:endParaRPr lang="en-US" sz="1050" b="1" dirty="0" smtClean="0"/>
            </a:p>
            <a:p>
              <a:pPr algn="ctr"/>
              <a:r>
                <a:rPr lang="en-US" sz="1050" b="1" dirty="0" smtClean="0"/>
                <a:t> </a:t>
              </a:r>
            </a:p>
          </p:txBody>
        </p:sp>
      </p:grpSp>
      <p:sp>
        <p:nvSpPr>
          <p:cNvPr id="196" name="TextBox 195"/>
          <p:cNvSpPr txBox="1"/>
          <p:nvPr/>
        </p:nvSpPr>
        <p:spPr>
          <a:xfrm>
            <a:off x="2266950" y="4953000"/>
            <a:ext cx="474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/>
              <a:t>P</a:t>
            </a:r>
            <a:endParaRPr 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1551758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1616</TotalTime>
  <Words>64</Words>
  <Application>Microsoft Office PowerPoint</Application>
  <PresentationFormat>On-screen Show (4:3)</PresentationFormat>
  <Paragraphs>43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NHLBI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Knepper, Mark A (NIH/NHLBI) [E]</dc:creator>
  <cp:lastModifiedBy>Knepper, Mark A (NIH/NHLBI) [E]</cp:lastModifiedBy>
  <cp:revision>19</cp:revision>
  <dcterms:created xsi:type="dcterms:W3CDTF">2016-12-12T15:14:41Z</dcterms:created>
  <dcterms:modified xsi:type="dcterms:W3CDTF">2016-12-19T15:36:10Z</dcterms:modified>
</cp:coreProperties>
</file>