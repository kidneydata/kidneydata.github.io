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0033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37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3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2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5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4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3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1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2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8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1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A84D-F01C-422E-A195-CEC7543617FF}" type="datetimeFigureOut">
              <a:rPr lang="en-US" smtClean="0"/>
              <a:t>12/16/2016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0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sldjump" tooltip="Demonstrated by ChIP-Seq, present study."/>
          </p:cNvPr>
          <p:cNvSpPr/>
          <p:nvPr/>
        </p:nvSpPr>
        <p:spPr>
          <a:xfrm>
            <a:off x="20032600" y="13040685"/>
            <a:ext cx="1799574" cy="887582"/>
          </a:xfrm>
          <a:prstGeom prst="rect">
            <a:avLst/>
          </a:prstGeom>
          <a:solidFill>
            <a:srgbClr val="CCFFCC"/>
          </a:solidFill>
          <a:ln w="63500">
            <a:solidFill>
              <a:srgbClr val="0033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hlinkClick r:id="rId2" action="ppaction://hlinksldjump" tooltip="The putative Sik2 site in CREBBP (Ser77 SELLRGGS*GSSINPG) was not identified in PKA dKO cells. The tryptic peptide would be 45 amino acids in length."/>
          </p:cNvPr>
          <p:cNvSpPr/>
          <p:nvPr/>
        </p:nvSpPr>
        <p:spPr>
          <a:xfrm>
            <a:off x="20363163" y="7586349"/>
            <a:ext cx="943585" cy="990600"/>
          </a:xfrm>
          <a:prstGeom prst="ellipse">
            <a:avLst/>
          </a:prstGeom>
          <a:solidFill>
            <a:srgbClr val="CCFFCC"/>
          </a:solidFill>
          <a:ln w="635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2" action="ppaction://hlinksldjump" tooltip="SIK2 inhibits p300 HAT activity by direct phosphorylation on Ser89 (21084751). This is probably true for the equivalent site on CREBBP, also a histone acetyltransferase"/>
          </p:cNvPr>
          <p:cNvSpPr/>
          <p:nvPr/>
        </p:nvSpPr>
        <p:spPr>
          <a:xfrm>
            <a:off x="20573443" y="6344554"/>
            <a:ext cx="727267" cy="1226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hlinkClick r:id="rId2" action="ppaction://hlinksldjump" tooltip="In Sik2, two sites showed decreased phosphorylation in PKA double KO:  Ser358 (dKO/cont = 0.043) and Ser587 (dKO/cont = 0.484).  "/>
          </p:cNvPr>
          <p:cNvSpPr/>
          <p:nvPr/>
        </p:nvSpPr>
        <p:spPr>
          <a:xfrm>
            <a:off x="20489866" y="5347743"/>
            <a:ext cx="943585" cy="990600"/>
          </a:xfrm>
          <a:prstGeom prst="ellipse">
            <a:avLst/>
          </a:prstGeom>
          <a:solidFill>
            <a:srgbClr val="FFCCCC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7594266" y="5307433"/>
            <a:ext cx="943585" cy="990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hlinkClick r:id="rId2" action="ppaction://hlinksldjump" tooltip="In Sik2, two sites showed decreased phosphorylation in PKA double KO:  Ser358 (dKO/cont = 0.043) and Ser587 (dKO/cont = 0.484).  "/>
          </p:cNvPr>
          <p:cNvSpPr txBox="1"/>
          <p:nvPr/>
        </p:nvSpPr>
        <p:spPr>
          <a:xfrm>
            <a:off x="20335325" y="5456134"/>
            <a:ext cx="129540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Sik2</a:t>
            </a:r>
          </a:p>
          <a:p>
            <a:pPr algn="ctr"/>
            <a:r>
              <a:rPr lang="en-US" sz="1600" b="1" dirty="0" smtClean="0"/>
              <a:t> S358</a:t>
            </a:r>
            <a:r>
              <a:rPr lang="en-US" sz="1600" b="1" dirty="0"/>
              <a:t>/</a:t>
            </a:r>
          </a:p>
          <a:p>
            <a:pPr algn="ctr"/>
            <a:r>
              <a:rPr lang="en-US" sz="1600" b="1" dirty="0"/>
              <a:t> S587</a:t>
            </a:r>
          </a:p>
          <a:p>
            <a:pPr algn="ctr"/>
            <a:endParaRPr lang="en-US" sz="1050" b="1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885556" y="8564522"/>
            <a:ext cx="10576" cy="1812855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hlinkClick r:id="rId2" action="ppaction://hlinksldjump" tooltip="CREBBP is  a histone acetyltransferase.                                                                                         "/>
          </p:cNvPr>
          <p:cNvSpPr txBox="1"/>
          <p:nvPr/>
        </p:nvSpPr>
        <p:spPr>
          <a:xfrm>
            <a:off x="20022418" y="13051697"/>
            <a:ext cx="177426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Increased </a:t>
            </a:r>
            <a:r>
              <a:rPr lang="en-US" sz="1600" b="1" dirty="0" smtClean="0"/>
              <a:t>H3K27 Acetylation of  </a:t>
            </a:r>
            <a:r>
              <a:rPr lang="en-US" sz="1600" b="1" i="1" dirty="0" smtClean="0"/>
              <a:t>Aqp2</a:t>
            </a:r>
            <a:r>
              <a:rPr lang="en-US" sz="1600" b="1" dirty="0" smtClean="0"/>
              <a:t> Gene</a:t>
            </a:r>
            <a:endParaRPr lang="en-US" sz="1600" b="1" dirty="0"/>
          </a:p>
          <a:p>
            <a:pPr algn="ctr"/>
            <a:endParaRPr lang="en-US" sz="1050" b="1" dirty="0"/>
          </a:p>
        </p:txBody>
      </p:sp>
      <p:sp>
        <p:nvSpPr>
          <p:cNvPr id="12" name="TextBox 11">
            <a:hlinkClick r:id="rId2" action="ppaction://hlinksldjump" tooltip="test"/>
          </p:cNvPr>
          <p:cNvSpPr txBox="1"/>
          <p:nvPr/>
        </p:nvSpPr>
        <p:spPr>
          <a:xfrm>
            <a:off x="21477881" y="5094592"/>
            <a:ext cx="566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1194310" y="3230048"/>
            <a:ext cx="2678150" cy="2090101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0918026" y="5113642"/>
            <a:ext cx="540805" cy="36154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hlinkClick r:id="rId2" action="ppaction://hlinksldjump" tooltip="The putative Sik2 site in CREBBP (Ser77 SELLRGGS*GSSINPG) was not identified in PKA dKO cells. The tryptic peptide would be 45 amino acids in length."/>
          </p:cNvPr>
          <p:cNvSpPr txBox="1"/>
          <p:nvPr/>
        </p:nvSpPr>
        <p:spPr>
          <a:xfrm>
            <a:off x="20178492" y="7793543"/>
            <a:ext cx="1359081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 smtClean="0"/>
              <a:t>Crebbp</a:t>
            </a:r>
            <a:endParaRPr lang="en-US" sz="1600" b="1" dirty="0" smtClean="0"/>
          </a:p>
          <a:p>
            <a:pPr algn="ctr"/>
            <a:r>
              <a:rPr lang="en-US" sz="1600" b="1" dirty="0" smtClean="0"/>
              <a:t>Ser77</a:t>
            </a:r>
            <a:endParaRPr lang="en-US" sz="1600" b="1" dirty="0"/>
          </a:p>
          <a:p>
            <a:pPr algn="ctr"/>
            <a:endParaRPr lang="en-US" sz="1050" b="1" dirty="0"/>
          </a:p>
        </p:txBody>
      </p:sp>
      <p:sp>
        <p:nvSpPr>
          <p:cNvPr id="16" name="Oval 15"/>
          <p:cNvSpPr/>
          <p:nvPr/>
        </p:nvSpPr>
        <p:spPr>
          <a:xfrm>
            <a:off x="19307259" y="2910937"/>
            <a:ext cx="943585" cy="990600"/>
          </a:xfrm>
          <a:prstGeom prst="ellipse">
            <a:avLst/>
          </a:prstGeom>
          <a:solidFill>
            <a:srgbClr val="CCFFCC"/>
          </a:solidFill>
          <a:ln w="635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0937076" y="6344554"/>
            <a:ext cx="16206" cy="1049371"/>
          </a:xfrm>
          <a:prstGeom prst="straightConnector1">
            <a:avLst/>
          </a:prstGeom>
          <a:ln w="635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0573443" y="7224648"/>
            <a:ext cx="727267" cy="36648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194344" y="7224648"/>
            <a:ext cx="566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</a:t>
            </a:r>
          </a:p>
        </p:txBody>
      </p:sp>
      <p:sp>
        <p:nvSpPr>
          <p:cNvPr id="20" name="Rectangle 19">
            <a:hlinkClick r:id="rId2" action="ppaction://hlinksldjump" tooltip="CREBBP translocates into the nuclei of mpkCCD cells in response to vasopressin along with beta-catenin (Schenk, 22440904)."/>
          </p:cNvPr>
          <p:cNvSpPr/>
          <p:nvPr/>
        </p:nvSpPr>
        <p:spPr>
          <a:xfrm>
            <a:off x="20029060" y="10370573"/>
            <a:ext cx="1803114" cy="887582"/>
          </a:xfrm>
          <a:prstGeom prst="rect">
            <a:avLst/>
          </a:prstGeom>
          <a:solidFill>
            <a:srgbClr val="CCFFCC"/>
          </a:solidFill>
          <a:ln w="63500">
            <a:solidFill>
              <a:srgbClr val="0033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0947994" y="11225808"/>
            <a:ext cx="10576" cy="1812855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242026" y="3165694"/>
            <a:ext cx="1803114" cy="887582"/>
          </a:xfrm>
          <a:prstGeom prst="rect">
            <a:avLst/>
          </a:prstGeom>
          <a:noFill/>
          <a:ln w="38100">
            <a:solidFill>
              <a:srgbClr val="0033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hlinkClick r:id="rId2" action="ppaction://hlinksldjump" tooltip="CREBBP translocates into the nuclei of mpkCCD cells in response to vasopressin along with beta-catenin (Schenk, 22440904)."/>
          </p:cNvPr>
          <p:cNvSpPr txBox="1"/>
          <p:nvPr/>
        </p:nvSpPr>
        <p:spPr>
          <a:xfrm>
            <a:off x="20156655" y="10399128"/>
            <a:ext cx="149781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Crebbp</a:t>
            </a:r>
            <a:r>
              <a:rPr lang="en-US" sz="1600" b="1" dirty="0"/>
              <a:t> Translocation to Nucleus</a:t>
            </a:r>
          </a:p>
          <a:p>
            <a:pPr algn="ctr"/>
            <a:endParaRPr lang="en-US" sz="1050" b="1" dirty="0"/>
          </a:p>
        </p:txBody>
      </p:sp>
      <p:grpSp>
        <p:nvGrpSpPr>
          <p:cNvPr id="24" name="Group 23"/>
          <p:cNvGrpSpPr/>
          <p:nvPr/>
        </p:nvGrpSpPr>
        <p:grpSpPr>
          <a:xfrm>
            <a:off x="23041626" y="1070193"/>
            <a:ext cx="5647674" cy="3204905"/>
            <a:chOff x="23041626" y="4232493"/>
            <a:chExt cx="2561574" cy="2115847"/>
          </a:xfrm>
        </p:grpSpPr>
        <p:sp>
          <p:nvSpPr>
            <p:cNvPr id="25" name="Rectangle 24"/>
            <p:cNvSpPr/>
            <p:nvPr/>
          </p:nvSpPr>
          <p:spPr>
            <a:xfrm>
              <a:off x="23041626" y="4232493"/>
              <a:ext cx="2561574" cy="2115847"/>
            </a:xfrm>
            <a:prstGeom prst="rect">
              <a:avLst/>
            </a:prstGeom>
            <a:solidFill>
              <a:srgbClr val="FFFFCC"/>
            </a:solidFill>
            <a:ln w="101600">
              <a:solidFill>
                <a:srgbClr val="003300">
                  <a:alpha val="9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088600" y="4553692"/>
              <a:ext cx="2476500" cy="152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 smtClean="0"/>
                <a:t>Protein Kinase A</a:t>
              </a:r>
              <a:endParaRPr lang="en-US" sz="7200" b="1" dirty="0"/>
            </a:p>
          </p:txBody>
        </p:sp>
      </p:grpSp>
      <p:sp>
        <p:nvSpPr>
          <p:cNvPr id="27" name="Rectangle 26">
            <a:hlinkClick r:id="rId2" action="ppaction://hlinksldjump" tooltip="PKA phosphorylates  S358  of Sik2 (22462548), reducing enzymatic activity (25472719) via 14-3-3 binding (Intro. to 25472719). cAMP decreases SIK2 activity via the PKA-mediated phosphorylation of SIK2 at S587 (14693422). "/>
          </p:cNvPr>
          <p:cNvSpPr/>
          <p:nvPr/>
        </p:nvSpPr>
        <p:spPr>
          <a:xfrm rot="3215076">
            <a:off x="21732948" y="3731461"/>
            <a:ext cx="561316" cy="185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0756566" y="2890293"/>
            <a:ext cx="943585" cy="990600"/>
          </a:xfrm>
          <a:prstGeom prst="ellipse">
            <a:avLst/>
          </a:prstGeom>
          <a:solidFill>
            <a:srgbClr val="FFCCCC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hlinkClick r:id="rId2" action="ppaction://hlinksldjump" tooltip="SIK2 inhibits p300 HAT activity by direct phosphorylation on Ser89 (21084751). This is probably true for the equivalent site on CREBBP, also a histone acetyltransferase"/>
          </p:cNvPr>
          <p:cNvSpPr/>
          <p:nvPr/>
        </p:nvSpPr>
        <p:spPr>
          <a:xfrm>
            <a:off x="20478194" y="8743949"/>
            <a:ext cx="750164" cy="1428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18375249" y="27089100"/>
            <a:ext cx="5399151" cy="2838450"/>
            <a:chOff x="18775299" y="23488650"/>
            <a:chExt cx="5399151" cy="2838450"/>
          </a:xfrm>
        </p:grpSpPr>
        <p:sp>
          <p:nvSpPr>
            <p:cNvPr id="31" name="Rectangle 30">
              <a:hlinkClick r:id="rId2" action="ppaction://hlinksldjump" tooltip="Marked decrease in Aqp2 mRNA in PKA dKO (present study).  Vasopressin markedly increases Aqp2 mRNA and RNA Pol-II occupancy (27725713)."/>
            </p:cNvPr>
            <p:cNvSpPr/>
            <p:nvPr/>
          </p:nvSpPr>
          <p:spPr>
            <a:xfrm>
              <a:off x="18775299" y="23488650"/>
              <a:ext cx="5399151" cy="2838450"/>
            </a:xfrm>
            <a:prstGeom prst="rect">
              <a:avLst/>
            </a:prstGeom>
            <a:solidFill>
              <a:srgbClr val="FFFFCC"/>
            </a:solidFill>
            <a:ln w="63500">
              <a:solidFill>
                <a:srgbClr val="003300">
                  <a:alpha val="9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hlinkClick r:id="rId2" action="ppaction://hlinksldjump" tooltip="Marked decrease in Aqp2 mRNA in PKA dKO (present study).  Vasopressin increases Aqp2 mRNA and RNA Pol-II occupancy (27725713).                                                                        "/>
            </p:cNvPr>
            <p:cNvSpPr txBox="1"/>
            <p:nvPr/>
          </p:nvSpPr>
          <p:spPr>
            <a:xfrm>
              <a:off x="18974667" y="23602925"/>
              <a:ext cx="4990233" cy="2585323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/>
                <a:t>Increased </a:t>
              </a:r>
              <a:r>
                <a:rPr lang="en-US" sz="5400" b="1" i="1" dirty="0" smtClean="0"/>
                <a:t>Aqp2</a:t>
              </a:r>
              <a:r>
                <a:rPr lang="en-US" sz="5400" b="1" dirty="0" smtClean="0"/>
                <a:t> Gene Transcription </a:t>
              </a:r>
              <a:endParaRPr lang="en-US" sz="5400" b="1" dirty="0"/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20967044" y="13911858"/>
            <a:ext cx="95672" cy="13177242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hlinkClick r:id="rId2" action="ppaction://hlinksldjump" tooltip="Two mTOR phosphorylation sites decreased  in phospho-occupancy in PKA dKO: Ser2448 (SRTRTDS*YSAGQS), dKO/cont = 0.58; Ser2481 (not basophilic  VPESIHS*FIGDGL), dKO/con = 0.18.  Both phoshorylation events increase enzyme activity (Kinexus PhospoNet).   "/>
          </p:cNvPr>
          <p:cNvSpPr/>
          <p:nvPr/>
        </p:nvSpPr>
        <p:spPr>
          <a:xfrm>
            <a:off x="23582453" y="6271737"/>
            <a:ext cx="943585" cy="990600"/>
          </a:xfrm>
          <a:prstGeom prst="ellipse">
            <a:avLst/>
          </a:prstGeom>
          <a:solidFill>
            <a:srgbClr val="CCFFCC"/>
          </a:solidFill>
          <a:ln w="635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4101978" y="4275098"/>
            <a:ext cx="10576" cy="2003549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hlinkClick r:id="rId2" action="ppaction://hlinksldjump" tooltip="SIK2 inhibits p300 HAT activity by direct phosphorylation on Ser89 (21084751). This is probably true for the equivalent site on CREBBP, also a histone acetyltransferase"/>
          </p:cNvPr>
          <p:cNvSpPr/>
          <p:nvPr/>
        </p:nvSpPr>
        <p:spPr>
          <a:xfrm>
            <a:off x="23694616" y="4645219"/>
            <a:ext cx="750164" cy="1428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hlinkClick r:id="rId2" action="ppaction://hlinksldjump" tooltip="Two mTOR phosphorylation sites decreased  in phospho-occupancy in PKA dKO: Ser2448 (SRTRTDS*YSAGQS), dKO/cont = 0.58; Ser2481 (not basophilic  VPESIHS*FIGDGL), dKO/con = 0.18.  Both phoshorylation events increase enzyme activity (Kinexus PhospoNet).   "/>
          </p:cNvPr>
          <p:cNvSpPr txBox="1"/>
          <p:nvPr/>
        </p:nvSpPr>
        <p:spPr>
          <a:xfrm>
            <a:off x="23455495" y="6442718"/>
            <a:ext cx="1295400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 smtClean="0"/>
              <a:t>Mtor</a:t>
            </a:r>
            <a:r>
              <a:rPr lang="en-US" sz="1600" b="1" dirty="0" smtClean="0"/>
              <a:t> </a:t>
            </a:r>
          </a:p>
          <a:p>
            <a:pPr algn="ctr"/>
            <a:r>
              <a:rPr lang="en-US" sz="1600" b="1" dirty="0" smtClean="0"/>
              <a:t>S2448</a:t>
            </a:r>
            <a:endParaRPr lang="en-US" sz="1600" b="1" dirty="0"/>
          </a:p>
          <a:p>
            <a:pPr algn="ctr"/>
            <a:endParaRPr lang="en-US" sz="1050" b="1" dirty="0"/>
          </a:p>
        </p:txBody>
      </p:sp>
      <p:sp>
        <p:nvSpPr>
          <p:cNvPr id="38" name="TextBox 37">
            <a:hlinkClick r:id="rId2" action="ppaction://hlinksldjump" tooltip="test"/>
          </p:cNvPr>
          <p:cNvSpPr txBox="1"/>
          <p:nvPr/>
        </p:nvSpPr>
        <p:spPr>
          <a:xfrm>
            <a:off x="24389505" y="6000966"/>
            <a:ext cx="566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23194026" y="1222593"/>
            <a:ext cx="5647674" cy="3204905"/>
            <a:chOff x="23041626" y="4232493"/>
            <a:chExt cx="2561574" cy="2115847"/>
          </a:xfrm>
        </p:grpSpPr>
        <p:sp>
          <p:nvSpPr>
            <p:cNvPr id="40" name="Rectangle 39"/>
            <p:cNvSpPr/>
            <p:nvPr/>
          </p:nvSpPr>
          <p:spPr>
            <a:xfrm>
              <a:off x="23041626" y="4232493"/>
              <a:ext cx="2561574" cy="2115847"/>
            </a:xfrm>
            <a:prstGeom prst="rect">
              <a:avLst/>
            </a:prstGeom>
            <a:solidFill>
              <a:srgbClr val="FFFFCC"/>
            </a:solidFill>
            <a:ln w="101600">
              <a:solidFill>
                <a:srgbClr val="003300">
                  <a:alpha val="9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3088600" y="4553692"/>
              <a:ext cx="2476500" cy="152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 smtClean="0"/>
                <a:t>Protein Kinase A</a:t>
              </a:r>
              <a:endParaRPr lang="en-US" sz="7200" b="1" dirty="0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5912127" y="5106528"/>
            <a:ext cx="1343113" cy="900246"/>
            <a:chOff x="5912127" y="5106528"/>
            <a:chExt cx="1343113" cy="900246"/>
          </a:xfrm>
        </p:grpSpPr>
        <p:sp>
          <p:nvSpPr>
            <p:cNvPr id="80" name="Rectangle 79"/>
            <p:cNvSpPr/>
            <p:nvPr/>
          </p:nvSpPr>
          <p:spPr>
            <a:xfrm>
              <a:off x="5912127" y="5145379"/>
              <a:ext cx="1343113" cy="657353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943600" y="5106528"/>
              <a:ext cx="1295400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Decreased Phosphorylation at Sites with </a:t>
              </a:r>
              <a:r>
                <a:rPr lang="en-US" sz="1050" b="1" dirty="0" err="1" smtClean="0"/>
                <a:t>Proline</a:t>
              </a:r>
              <a:r>
                <a:rPr lang="en-US" sz="1050" b="1" dirty="0" smtClean="0"/>
                <a:t> at Position +1 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4755630" y="420980"/>
            <a:ext cx="838200" cy="838200"/>
            <a:chOff x="4114800" y="2514600"/>
            <a:chExt cx="838200" cy="838200"/>
          </a:xfrm>
        </p:grpSpPr>
        <p:sp>
          <p:nvSpPr>
            <p:cNvPr id="69" name="Oval 68"/>
            <p:cNvSpPr/>
            <p:nvPr/>
          </p:nvSpPr>
          <p:spPr>
            <a:xfrm>
              <a:off x="4114800" y="2514600"/>
              <a:ext cx="838200" cy="8382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238016" y="2724090"/>
              <a:ext cx="630680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chemeClr val="tx2">
                      <a:lumMod val="50000"/>
                    </a:schemeClr>
                  </a:solidFill>
                </a:rPr>
                <a:t>PKA</a:t>
              </a:r>
              <a:endParaRPr lang="en-US" sz="20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cxnSp>
        <p:nvCxnSpPr>
          <p:cNvPr id="89" name="Straight Arrow Connector 88"/>
          <p:cNvCxnSpPr>
            <a:endCxn id="151" idx="0"/>
          </p:cNvCxnSpPr>
          <p:nvPr/>
        </p:nvCxnSpPr>
        <p:spPr>
          <a:xfrm>
            <a:off x="3810186" y="2173580"/>
            <a:ext cx="95" cy="36465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4070642" y="4916780"/>
            <a:ext cx="347326" cy="30777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3427175" y="4228003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cxnSp>
        <p:nvCxnSpPr>
          <p:cNvPr id="115" name="Straight Arrow Connector 114"/>
          <p:cNvCxnSpPr/>
          <p:nvPr/>
        </p:nvCxnSpPr>
        <p:spPr>
          <a:xfrm>
            <a:off x="6629586" y="2173580"/>
            <a:ext cx="3934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6614715" y="3114095"/>
            <a:ext cx="14871" cy="3548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2470442" y="3080228"/>
            <a:ext cx="701554" cy="51299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H="1">
            <a:off x="4604044" y="3772291"/>
            <a:ext cx="1714498" cy="144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4710942" y="3478919"/>
            <a:ext cx="1187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cxnSp>
        <p:nvCxnSpPr>
          <p:cNvPr id="135" name="Straight Arrow Connector 134"/>
          <p:cNvCxnSpPr/>
          <p:nvPr/>
        </p:nvCxnSpPr>
        <p:spPr>
          <a:xfrm>
            <a:off x="3530186" y="3926180"/>
            <a:ext cx="272944" cy="4586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189175" y="4228003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cxnSp>
        <p:nvCxnSpPr>
          <p:cNvPr id="137" name="Straight Arrow Connector 136"/>
          <p:cNvCxnSpPr/>
          <p:nvPr/>
        </p:nvCxnSpPr>
        <p:spPr>
          <a:xfrm flipV="1">
            <a:off x="2539113" y="4085207"/>
            <a:ext cx="812171" cy="134519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flipH="1" flipV="1">
            <a:off x="2539113" y="5430403"/>
            <a:ext cx="1839782" cy="130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6736830" y="2259719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sp>
        <p:nvSpPr>
          <p:cNvPr id="142" name="TextBox 141"/>
          <p:cNvSpPr txBox="1"/>
          <p:nvPr/>
        </p:nvSpPr>
        <p:spPr>
          <a:xfrm>
            <a:off x="4238752" y="1590983"/>
            <a:ext cx="1035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sp>
        <p:nvSpPr>
          <p:cNvPr id="143" name="TextBox 142"/>
          <p:cNvSpPr txBox="1"/>
          <p:nvPr/>
        </p:nvSpPr>
        <p:spPr>
          <a:xfrm>
            <a:off x="6292884" y="1246264"/>
            <a:ext cx="120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sp>
        <p:nvSpPr>
          <p:cNvPr id="145" name="TextBox 144"/>
          <p:cNvSpPr txBox="1"/>
          <p:nvPr/>
        </p:nvSpPr>
        <p:spPr>
          <a:xfrm>
            <a:off x="4374630" y="4913803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grpSp>
        <p:nvGrpSpPr>
          <p:cNvPr id="146" name="Group 145"/>
          <p:cNvGrpSpPr/>
          <p:nvPr/>
        </p:nvGrpSpPr>
        <p:grpSpPr>
          <a:xfrm>
            <a:off x="3186660" y="1548990"/>
            <a:ext cx="1295400" cy="681745"/>
            <a:chOff x="1032479" y="3733800"/>
            <a:chExt cx="1295400" cy="681745"/>
          </a:xfrm>
        </p:grpSpPr>
        <p:sp>
          <p:nvSpPr>
            <p:cNvPr id="147" name="Oval 146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032479" y="3838464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/>
                <a:t>Src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S17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cxnSp>
        <p:nvCxnSpPr>
          <p:cNvPr id="149" name="Straight Arrow Connector 148"/>
          <p:cNvCxnSpPr/>
          <p:nvPr/>
        </p:nvCxnSpPr>
        <p:spPr>
          <a:xfrm flipH="1">
            <a:off x="4050174" y="1106448"/>
            <a:ext cx="843198" cy="608443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149"/>
          <p:cNvGrpSpPr/>
          <p:nvPr/>
        </p:nvGrpSpPr>
        <p:grpSpPr>
          <a:xfrm>
            <a:off x="3185410" y="2538238"/>
            <a:ext cx="1295400" cy="681745"/>
            <a:chOff x="1032479" y="3733800"/>
            <a:chExt cx="1295400" cy="681745"/>
          </a:xfrm>
        </p:grpSpPr>
        <p:sp>
          <p:nvSpPr>
            <p:cNvPr id="151" name="Oval 150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032479" y="3838464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Rap1a/</a:t>
              </a:r>
            </a:p>
            <a:p>
              <a:pPr algn="ctr"/>
              <a:r>
                <a:rPr lang="en-US" sz="1050" b="1" dirty="0" smtClean="0"/>
                <a:t>Rap1b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cxnSp>
        <p:nvCxnSpPr>
          <p:cNvPr id="53" name="Straight Connector 52"/>
          <p:cNvCxnSpPr/>
          <p:nvPr/>
        </p:nvCxnSpPr>
        <p:spPr>
          <a:xfrm flipH="1">
            <a:off x="3125451" y="3058000"/>
            <a:ext cx="454710" cy="2575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3015392" y="3217694"/>
            <a:ext cx="201248" cy="2063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/>
          <p:cNvGrpSpPr/>
          <p:nvPr/>
        </p:nvGrpSpPr>
        <p:grpSpPr>
          <a:xfrm>
            <a:off x="1600200" y="2615790"/>
            <a:ext cx="1295400" cy="750222"/>
            <a:chOff x="1027888" y="3733800"/>
            <a:chExt cx="1295400" cy="750222"/>
          </a:xfrm>
        </p:grpSpPr>
        <p:sp>
          <p:nvSpPr>
            <p:cNvPr id="155" name="Oval 154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027888" y="3745358"/>
              <a:ext cx="12954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/>
                <a:t>H</a:t>
              </a:r>
              <a:r>
                <a:rPr lang="en-US" sz="1050" b="1" dirty="0" err="1" smtClean="0"/>
                <a:t>ras</a:t>
              </a:r>
              <a:r>
                <a:rPr lang="en-US" sz="1050" b="1" dirty="0" smtClean="0"/>
                <a:t>, </a:t>
              </a:r>
            </a:p>
            <a:p>
              <a:pPr algn="ctr"/>
              <a:r>
                <a:rPr lang="en-US" sz="1050" b="1" dirty="0" err="1" smtClean="0"/>
                <a:t>Nras</a:t>
              </a:r>
              <a:r>
                <a:rPr lang="en-US" sz="1050" b="1" dirty="0" smtClean="0"/>
                <a:t>, </a:t>
              </a:r>
            </a:p>
            <a:p>
              <a:pPr algn="ctr"/>
              <a:r>
                <a:rPr lang="en-US" sz="1050" b="1" dirty="0" smtClean="0"/>
                <a:t>Rras2</a:t>
              </a:r>
            </a:p>
            <a:p>
              <a:pPr algn="ctr"/>
              <a:endParaRPr lang="en-US" sz="1050" b="1" dirty="0" smtClean="0"/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2774430" y="3489846"/>
            <a:ext cx="1295400" cy="776104"/>
            <a:chOff x="29980" y="1600200"/>
            <a:chExt cx="1295400" cy="776104"/>
          </a:xfrm>
        </p:grpSpPr>
        <p:sp>
          <p:nvSpPr>
            <p:cNvPr id="160" name="Oval 159"/>
            <p:cNvSpPr/>
            <p:nvPr/>
          </p:nvSpPr>
          <p:spPr>
            <a:xfrm>
              <a:off x="354835" y="16002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9980" y="1637640"/>
              <a:ext cx="12954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Raf1</a:t>
              </a:r>
            </a:p>
            <a:p>
              <a:pPr algn="ctr"/>
              <a:r>
                <a:rPr lang="en-US" sz="1050" b="1" dirty="0" smtClean="0"/>
                <a:t>S301</a:t>
              </a:r>
            </a:p>
            <a:p>
              <a:pPr algn="ctr"/>
              <a:r>
                <a:rPr lang="en-US" sz="1050" b="1" dirty="0" smtClean="0"/>
                <a:t>S259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 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3292840" y="4383380"/>
            <a:ext cx="1295400" cy="706597"/>
            <a:chOff x="14990" y="1600200"/>
            <a:chExt cx="1295400" cy="706597"/>
          </a:xfrm>
        </p:grpSpPr>
        <p:sp>
          <p:nvSpPr>
            <p:cNvPr id="163" name="Oval 162"/>
            <p:cNvSpPr/>
            <p:nvPr/>
          </p:nvSpPr>
          <p:spPr>
            <a:xfrm>
              <a:off x="354835" y="16002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14990" y="1729716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Map2k1/ </a:t>
              </a:r>
            </a:p>
            <a:p>
              <a:pPr algn="ctr"/>
              <a:r>
                <a:rPr lang="en-US" sz="1050" b="1" dirty="0"/>
                <a:t>Map2k2</a:t>
              </a:r>
            </a:p>
            <a:p>
              <a:pPr algn="ctr"/>
              <a:r>
                <a:rPr lang="en-US" sz="1050" b="1" dirty="0" smtClean="0"/>
                <a:t> </a:t>
              </a:r>
              <a:endParaRPr lang="en-US" sz="1050" b="1" dirty="0" smtClean="0"/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3993630" y="5145380"/>
            <a:ext cx="1295400" cy="936033"/>
            <a:chOff x="14990" y="1600200"/>
            <a:chExt cx="1295400" cy="936033"/>
          </a:xfrm>
        </p:grpSpPr>
        <p:sp>
          <p:nvSpPr>
            <p:cNvPr id="166" name="Oval 165"/>
            <p:cNvSpPr/>
            <p:nvPr/>
          </p:nvSpPr>
          <p:spPr>
            <a:xfrm>
              <a:off x="354835" y="16002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4990" y="1635987"/>
              <a:ext cx="1295400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Mapk1</a:t>
              </a:r>
            </a:p>
            <a:p>
              <a:pPr algn="ctr"/>
              <a:r>
                <a:rPr lang="en-US" sz="1050" b="1" dirty="0" smtClean="0"/>
                <a:t>T183/</a:t>
              </a:r>
            </a:p>
            <a:p>
              <a:pPr algn="ctr"/>
              <a:r>
                <a:rPr lang="en-US" sz="1050" b="1" dirty="0" smtClean="0"/>
                <a:t>Y185 </a:t>
              </a:r>
              <a:endParaRPr lang="en-US" sz="1050" b="1" dirty="0"/>
            </a:p>
            <a:p>
              <a:pPr algn="ctr"/>
              <a:endParaRPr lang="en-US" sz="1050" b="1" dirty="0"/>
            </a:p>
            <a:p>
              <a:pPr algn="ctr"/>
              <a:r>
                <a:rPr lang="en-US" sz="1050" b="1" dirty="0" smtClean="0"/>
                <a:t> </a:t>
              </a:r>
              <a:endParaRPr lang="en-US" sz="1050" b="1" dirty="0" smtClean="0"/>
            </a:p>
          </p:txBody>
        </p:sp>
      </p:grpSp>
      <p:cxnSp>
        <p:nvCxnSpPr>
          <p:cNvPr id="177" name="Straight Arrow Connector 176"/>
          <p:cNvCxnSpPr/>
          <p:nvPr/>
        </p:nvCxnSpPr>
        <p:spPr>
          <a:xfrm flipH="1">
            <a:off x="4035184" y="3926180"/>
            <a:ext cx="209122" cy="46049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Group 173"/>
          <p:cNvGrpSpPr/>
          <p:nvPr/>
        </p:nvGrpSpPr>
        <p:grpSpPr>
          <a:xfrm>
            <a:off x="3688830" y="3498960"/>
            <a:ext cx="1295400" cy="693625"/>
            <a:chOff x="29980" y="1600200"/>
            <a:chExt cx="1295400" cy="693625"/>
          </a:xfrm>
        </p:grpSpPr>
        <p:sp>
          <p:nvSpPr>
            <p:cNvPr id="175" name="Oval 174"/>
            <p:cNvSpPr/>
            <p:nvPr/>
          </p:nvSpPr>
          <p:spPr>
            <a:xfrm>
              <a:off x="354835" y="16002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29980" y="1716744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/>
                <a:t>Araf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S255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 </a:t>
              </a:r>
            </a:p>
          </p:txBody>
        </p:sp>
      </p:grpSp>
      <p:sp>
        <p:nvSpPr>
          <p:cNvPr id="183" name="TextBox 182"/>
          <p:cNvSpPr txBox="1"/>
          <p:nvPr/>
        </p:nvSpPr>
        <p:spPr>
          <a:xfrm>
            <a:off x="2893775" y="3926180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grpSp>
        <p:nvGrpSpPr>
          <p:cNvPr id="184" name="Group 183"/>
          <p:cNvGrpSpPr/>
          <p:nvPr/>
        </p:nvGrpSpPr>
        <p:grpSpPr>
          <a:xfrm>
            <a:off x="5959840" y="1628738"/>
            <a:ext cx="1295400" cy="868180"/>
            <a:chOff x="0" y="1600200"/>
            <a:chExt cx="1295400" cy="868180"/>
          </a:xfrm>
        </p:grpSpPr>
        <p:sp>
          <p:nvSpPr>
            <p:cNvPr id="185" name="Oval 184"/>
            <p:cNvSpPr/>
            <p:nvPr/>
          </p:nvSpPr>
          <p:spPr>
            <a:xfrm>
              <a:off x="354835" y="16002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0" y="1729716"/>
              <a:ext cx="12954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Map3k5</a:t>
              </a:r>
            </a:p>
            <a:p>
              <a:pPr algn="ctr"/>
              <a:r>
                <a:rPr lang="en-US" sz="1050" b="1" dirty="0" smtClean="0"/>
                <a:t>S973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  <a:p>
              <a:pPr algn="ctr"/>
              <a:r>
                <a:rPr lang="en-US" sz="1050" b="1" dirty="0" smtClean="0"/>
                <a:t> </a:t>
              </a:r>
            </a:p>
          </p:txBody>
        </p:sp>
      </p:grpSp>
      <p:cxnSp>
        <p:nvCxnSpPr>
          <p:cNvPr id="188" name="Straight Connector 187"/>
          <p:cNvCxnSpPr/>
          <p:nvPr/>
        </p:nvCxnSpPr>
        <p:spPr>
          <a:xfrm>
            <a:off x="5517630" y="1030580"/>
            <a:ext cx="699054" cy="529382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flipH="1">
            <a:off x="6216684" y="1375299"/>
            <a:ext cx="36947" cy="337063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/>
          <p:cNvGrpSpPr/>
          <p:nvPr/>
        </p:nvGrpSpPr>
        <p:grpSpPr>
          <a:xfrm>
            <a:off x="5973570" y="2478380"/>
            <a:ext cx="1295400" cy="705369"/>
            <a:chOff x="4161020" y="3048000"/>
            <a:chExt cx="1295400" cy="705369"/>
          </a:xfrm>
        </p:grpSpPr>
        <p:sp>
          <p:nvSpPr>
            <p:cNvPr id="193" name="Oval 192"/>
            <p:cNvSpPr/>
            <p:nvPr/>
          </p:nvSpPr>
          <p:spPr>
            <a:xfrm>
              <a:off x="4515855" y="30480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161020" y="3176288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Map2k7</a:t>
              </a:r>
            </a:p>
            <a:p>
              <a:pPr algn="ctr"/>
              <a:r>
                <a:rPr lang="en-US" sz="1050" b="1" dirty="0" smtClean="0"/>
                <a:t>S293</a:t>
              </a:r>
              <a:r>
                <a:rPr lang="en-US" sz="1050" b="1" dirty="0" smtClean="0"/>
                <a:t> 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grpSp>
        <p:nvGrpSpPr>
          <p:cNvPr id="196" name="Group 195"/>
          <p:cNvGrpSpPr/>
          <p:nvPr/>
        </p:nvGrpSpPr>
        <p:grpSpPr>
          <a:xfrm>
            <a:off x="5959840" y="3468980"/>
            <a:ext cx="1295400" cy="609600"/>
            <a:chOff x="0" y="1600200"/>
            <a:chExt cx="1295400" cy="609600"/>
          </a:xfrm>
        </p:grpSpPr>
        <p:sp>
          <p:nvSpPr>
            <p:cNvPr id="197" name="Oval 196"/>
            <p:cNvSpPr/>
            <p:nvPr/>
          </p:nvSpPr>
          <p:spPr>
            <a:xfrm>
              <a:off x="354835" y="16002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0" y="1787244"/>
              <a:ext cx="1295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Mapk8 </a:t>
              </a:r>
              <a:endParaRPr lang="en-US" sz="1050" b="1" dirty="0" smtClean="0"/>
            </a:p>
          </p:txBody>
        </p:sp>
      </p:grpSp>
      <p:cxnSp>
        <p:nvCxnSpPr>
          <p:cNvPr id="200" name="Straight Arrow Connector 199"/>
          <p:cNvCxnSpPr>
            <a:endCxn id="80" idx="1"/>
          </p:cNvCxnSpPr>
          <p:nvPr/>
        </p:nvCxnSpPr>
        <p:spPr>
          <a:xfrm>
            <a:off x="4904976" y="5450181"/>
            <a:ext cx="1007151" cy="238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>
            <a:endCxn id="81" idx="0"/>
          </p:cNvCxnSpPr>
          <p:nvPr/>
        </p:nvCxnSpPr>
        <p:spPr>
          <a:xfrm flipH="1">
            <a:off x="6591300" y="4077091"/>
            <a:ext cx="2062" cy="102943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6741830" y="322539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sp>
        <p:nvSpPr>
          <p:cNvPr id="206" name="TextBox 205"/>
          <p:cNvSpPr txBox="1"/>
          <p:nvPr/>
        </p:nvSpPr>
        <p:spPr>
          <a:xfrm>
            <a:off x="4283440" y="2698230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B</a:t>
            </a:r>
            <a:endParaRPr lang="en-US" sz="1400" b="1" dirty="0"/>
          </a:p>
        </p:txBody>
      </p:sp>
      <p:grpSp>
        <p:nvGrpSpPr>
          <p:cNvPr id="208" name="Group 207"/>
          <p:cNvGrpSpPr/>
          <p:nvPr/>
        </p:nvGrpSpPr>
        <p:grpSpPr>
          <a:xfrm>
            <a:off x="4601980" y="2088630"/>
            <a:ext cx="1295400" cy="713241"/>
            <a:chOff x="29980" y="1600200"/>
            <a:chExt cx="1295400" cy="713241"/>
          </a:xfrm>
        </p:grpSpPr>
        <p:sp>
          <p:nvSpPr>
            <p:cNvPr id="209" name="Oval 208"/>
            <p:cNvSpPr/>
            <p:nvPr/>
          </p:nvSpPr>
          <p:spPr>
            <a:xfrm>
              <a:off x="354835" y="1600200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9980" y="1736360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Sipa1l1</a:t>
              </a:r>
            </a:p>
            <a:p>
              <a:pPr algn="ctr"/>
              <a:r>
                <a:rPr lang="en-US" sz="1050" b="1" dirty="0" smtClean="0"/>
                <a:t>S1611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 </a:t>
              </a:r>
            </a:p>
          </p:txBody>
        </p:sp>
      </p:grpSp>
      <p:cxnSp>
        <p:nvCxnSpPr>
          <p:cNvPr id="211" name="Straight Connector 210"/>
          <p:cNvCxnSpPr/>
          <p:nvPr/>
        </p:nvCxnSpPr>
        <p:spPr>
          <a:xfrm>
            <a:off x="5181600" y="1223218"/>
            <a:ext cx="22987" cy="718976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>
            <a:off x="5014210" y="1897224"/>
            <a:ext cx="410996" cy="120634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5242810" y="1734633"/>
            <a:ext cx="120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cxnSp>
        <p:nvCxnSpPr>
          <p:cNvPr id="223" name="Straight Connector 222"/>
          <p:cNvCxnSpPr/>
          <p:nvPr/>
        </p:nvCxnSpPr>
        <p:spPr>
          <a:xfrm flipH="1">
            <a:off x="4189175" y="2514600"/>
            <a:ext cx="763826" cy="2358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 flipH="1" flipV="1">
            <a:off x="4129217" y="2597478"/>
            <a:ext cx="144298" cy="275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4755630" y="420980"/>
            <a:ext cx="838200" cy="838200"/>
            <a:chOff x="4114800" y="2514600"/>
            <a:chExt cx="838200" cy="838200"/>
          </a:xfrm>
        </p:grpSpPr>
        <p:sp>
          <p:nvSpPr>
            <p:cNvPr id="109" name="Oval 108"/>
            <p:cNvSpPr/>
            <p:nvPr/>
          </p:nvSpPr>
          <p:spPr>
            <a:xfrm>
              <a:off x="4114800" y="2514600"/>
              <a:ext cx="838200" cy="8382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38016" y="2724090"/>
              <a:ext cx="630680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chemeClr val="tx2">
                      <a:lumMod val="50000"/>
                    </a:schemeClr>
                  </a:solidFill>
                </a:rPr>
                <a:t>PKA</a:t>
              </a:r>
              <a:endParaRPr lang="en-US" sz="20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2711970" y="3352800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B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5175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3116</TotalTime>
  <Words>92</Words>
  <Application>Microsoft Office PowerPoint</Application>
  <PresentationFormat>On-screen Show (4:3)</PresentationFormat>
  <Paragraphs>62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NHLBI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Knepper, Mark A (NIH/NHLBI) [E]</dc:creator>
  <cp:lastModifiedBy>Knepper, Mark A (NIH/NHLBI) [E]</cp:lastModifiedBy>
  <cp:revision>18</cp:revision>
  <dcterms:created xsi:type="dcterms:W3CDTF">2016-12-12T15:14:41Z</dcterms:created>
  <dcterms:modified xsi:type="dcterms:W3CDTF">2016-12-18T17:52:37Z</dcterms:modified>
</cp:coreProperties>
</file>